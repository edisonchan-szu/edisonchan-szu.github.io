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zh-Hans-H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3969" autoAdjust="0"/>
  </p:normalViewPr>
  <p:slideViewPr>
    <p:cSldViewPr snapToGrid="0">
      <p:cViewPr varScale="1">
        <p:scale>
          <a:sx n="64" d="100"/>
          <a:sy n="64" d="100"/>
        </p:scale>
        <p:origin x="73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90AD47-B81A-4F10-895D-A857E0173E08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30C9D2-4926-4E47-A541-B338A3D6D7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35243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F7783-D836-8E03-FAFD-1FD5C12B44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Hans-HK"/>
              <a:t>Click to edit Master title style</a:t>
            </a:r>
            <a:endParaRPr lang="zh-Hans-HK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988AA6-1916-1BC0-CAF0-904B413D72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Hans-HK"/>
              <a:t>Click to edit Master subtitle style</a:t>
            </a:r>
            <a:endParaRPr lang="zh-Hans-HK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1F6944-1E5D-CD64-FECC-76FB0EEC8C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ACC43-5696-4EA8-A469-06D77B706263}" type="datetime1">
              <a:rPr lang="LID4096" altLang="en-US" smtClean="0"/>
              <a:t>10/20/2026</a:t>
            </a:fld>
            <a:endParaRPr lang="zh-Hans-HK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46045D-8D4B-2970-D29A-121F22FD4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ans-HK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D31921-74E0-6294-EDC9-1DE9CF377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57057-E763-426F-A796-25E54ADBE602}" type="slidenum">
              <a:rPr lang="zh-Hans-HK" altLang="en-US" smtClean="0"/>
              <a:t>‹#›</a:t>
            </a:fld>
            <a:endParaRPr lang="zh-Hans-HK" altLang="en-US"/>
          </a:p>
        </p:txBody>
      </p:sp>
    </p:spTree>
    <p:extLst>
      <p:ext uri="{BB962C8B-B14F-4D97-AF65-F5344CB8AC3E}">
        <p14:creationId xmlns:p14="http://schemas.microsoft.com/office/powerpoint/2010/main" val="5539924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CD84B-2EBD-969D-230D-B3F82F59E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ans-HK"/>
              <a:t>Click to edit Master title style</a:t>
            </a:r>
            <a:endParaRPr lang="zh-Hans-HK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AC331D-35C9-8904-5FE9-D28E1BF511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Hans-HK"/>
              <a:t>Click to edit Master text styles</a:t>
            </a:r>
          </a:p>
          <a:p>
            <a:pPr lvl="1"/>
            <a:r>
              <a:rPr lang="en-US" altLang="zh-Hans-HK"/>
              <a:t>Second level</a:t>
            </a:r>
          </a:p>
          <a:p>
            <a:pPr lvl="2"/>
            <a:r>
              <a:rPr lang="en-US" altLang="zh-Hans-HK"/>
              <a:t>Third level</a:t>
            </a:r>
          </a:p>
          <a:p>
            <a:pPr lvl="3"/>
            <a:r>
              <a:rPr lang="en-US" altLang="zh-Hans-HK"/>
              <a:t>Fourth level</a:t>
            </a:r>
          </a:p>
          <a:p>
            <a:pPr lvl="4"/>
            <a:r>
              <a:rPr lang="en-US" altLang="zh-Hans-HK"/>
              <a:t>Fifth level</a:t>
            </a:r>
            <a:endParaRPr lang="zh-Hans-HK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DA26E4-9960-4553-D25B-C31D008718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F5573-5705-4081-9921-AB23529513F9}" type="datetime1">
              <a:rPr lang="LID4096" altLang="en-US" smtClean="0"/>
              <a:t>10/20/2026</a:t>
            </a:fld>
            <a:endParaRPr lang="zh-Hans-HK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786A5F-F410-6C3D-8F88-DE9CB60D3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ans-HK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F3B63A-E775-32AD-2123-BC19BD4D5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57057-E763-426F-A796-25E54ADBE602}" type="slidenum">
              <a:rPr lang="zh-Hans-HK" altLang="en-US" smtClean="0"/>
              <a:t>‹#›</a:t>
            </a:fld>
            <a:endParaRPr lang="zh-Hans-HK" altLang="en-US"/>
          </a:p>
        </p:txBody>
      </p:sp>
    </p:spTree>
    <p:extLst>
      <p:ext uri="{BB962C8B-B14F-4D97-AF65-F5344CB8AC3E}">
        <p14:creationId xmlns:p14="http://schemas.microsoft.com/office/powerpoint/2010/main" val="37028184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52BF5C-E8C3-F286-6E37-59A110E28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Hans-HK"/>
              <a:t>Click to edit Master title style</a:t>
            </a:r>
            <a:endParaRPr lang="zh-Hans-HK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A38B63-D52C-E87B-EB24-38B5BA8014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altLang="zh-Hans-HK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B49938-A0C6-7B7B-F0A5-BF8E9EFC1B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B03B8-2184-472B-9BA5-652EFD1BFA1C}" type="datetime1">
              <a:rPr lang="LID4096" altLang="en-US" smtClean="0"/>
              <a:t>10/20/2026</a:t>
            </a:fld>
            <a:endParaRPr lang="zh-Hans-HK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5E3CB6-C98C-6CBE-9F21-31DCDAB1EB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ans-HK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56882D-425E-1022-F71C-5C2411B54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57057-E763-426F-A796-25E54ADBE602}" type="slidenum">
              <a:rPr lang="zh-Hans-HK" altLang="en-US" smtClean="0"/>
              <a:t>‹#›</a:t>
            </a:fld>
            <a:endParaRPr lang="zh-Hans-HK" altLang="en-US"/>
          </a:p>
        </p:txBody>
      </p:sp>
    </p:spTree>
    <p:extLst>
      <p:ext uri="{BB962C8B-B14F-4D97-AF65-F5344CB8AC3E}">
        <p14:creationId xmlns:p14="http://schemas.microsoft.com/office/powerpoint/2010/main" val="34297780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D0BE6-8C13-E2F6-88A3-56BE437C2F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ans-HK"/>
              <a:t>Click to edit Master title style</a:t>
            </a:r>
            <a:endParaRPr lang="zh-Hans-HK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D7ACFF-8B98-9DC0-6F63-0C050B0A40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Hans-HK"/>
              <a:t>Click to edit Master text styles</a:t>
            </a:r>
          </a:p>
          <a:p>
            <a:pPr lvl="1"/>
            <a:r>
              <a:rPr lang="en-US" altLang="zh-Hans-HK"/>
              <a:t>Second level</a:t>
            </a:r>
          </a:p>
          <a:p>
            <a:pPr lvl="2"/>
            <a:r>
              <a:rPr lang="en-US" altLang="zh-Hans-HK"/>
              <a:t>Third level</a:t>
            </a:r>
          </a:p>
          <a:p>
            <a:pPr lvl="3"/>
            <a:r>
              <a:rPr lang="en-US" altLang="zh-Hans-HK"/>
              <a:t>Fourth level</a:t>
            </a:r>
          </a:p>
          <a:p>
            <a:pPr lvl="4"/>
            <a:r>
              <a:rPr lang="en-US" altLang="zh-Hans-HK"/>
              <a:t>Fifth level</a:t>
            </a:r>
            <a:endParaRPr lang="zh-Hans-HK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6F7938-6917-4167-1F7F-D90509DD9B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Hans-HK"/>
              <a:t>Click to edit Master text styles</a:t>
            </a:r>
          </a:p>
          <a:p>
            <a:pPr lvl="1"/>
            <a:r>
              <a:rPr lang="en-US" altLang="zh-Hans-HK"/>
              <a:t>Second level</a:t>
            </a:r>
          </a:p>
          <a:p>
            <a:pPr lvl="2"/>
            <a:r>
              <a:rPr lang="en-US" altLang="zh-Hans-HK"/>
              <a:t>Third level</a:t>
            </a:r>
          </a:p>
          <a:p>
            <a:pPr lvl="3"/>
            <a:r>
              <a:rPr lang="en-US" altLang="zh-Hans-HK"/>
              <a:t>Fourth level</a:t>
            </a:r>
          </a:p>
          <a:p>
            <a:pPr lvl="4"/>
            <a:r>
              <a:rPr lang="en-US" altLang="zh-Hans-HK"/>
              <a:t>Fifth level</a:t>
            </a:r>
            <a:endParaRPr lang="zh-Hans-HK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9324FF-8610-7408-F16A-43CD5140F9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EDB92-509E-4967-928B-9D33D078D3FE}" type="datetime1">
              <a:rPr lang="LID4096" altLang="en-US" smtClean="0"/>
              <a:t>10/20/2026</a:t>
            </a:fld>
            <a:endParaRPr lang="zh-Hans-HK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FE250A-EB47-8756-4063-D506032968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ans-HK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02D511-AC71-581D-D8E4-FE3BE2B61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57057-E763-426F-A796-25E54ADBE602}" type="slidenum">
              <a:rPr lang="zh-Hans-HK" altLang="en-US" smtClean="0"/>
              <a:t>‹#›</a:t>
            </a:fld>
            <a:endParaRPr lang="zh-Hans-HK" altLang="en-US"/>
          </a:p>
        </p:txBody>
      </p:sp>
    </p:spTree>
    <p:extLst>
      <p:ext uri="{BB962C8B-B14F-4D97-AF65-F5344CB8AC3E}">
        <p14:creationId xmlns:p14="http://schemas.microsoft.com/office/powerpoint/2010/main" val="4435156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46A0CB-66B2-1507-580A-AE92E1B01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Hans-HK"/>
              <a:t>Click to edit Master title style</a:t>
            </a:r>
            <a:endParaRPr lang="zh-Hans-HK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47336F-B356-EF8F-92FF-7A9C373418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Hans-HK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12C1CF-527B-3E4D-434F-60C55B04F6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Hans-HK"/>
              <a:t>Click to edit Master text styles</a:t>
            </a:r>
          </a:p>
          <a:p>
            <a:pPr lvl="1"/>
            <a:r>
              <a:rPr lang="en-US" altLang="zh-Hans-HK"/>
              <a:t>Second level</a:t>
            </a:r>
          </a:p>
          <a:p>
            <a:pPr lvl="2"/>
            <a:r>
              <a:rPr lang="en-US" altLang="zh-Hans-HK"/>
              <a:t>Third level</a:t>
            </a:r>
          </a:p>
          <a:p>
            <a:pPr lvl="3"/>
            <a:r>
              <a:rPr lang="en-US" altLang="zh-Hans-HK"/>
              <a:t>Fourth level</a:t>
            </a:r>
          </a:p>
          <a:p>
            <a:pPr lvl="4"/>
            <a:r>
              <a:rPr lang="en-US" altLang="zh-Hans-HK"/>
              <a:t>Fifth level</a:t>
            </a:r>
            <a:endParaRPr lang="zh-Hans-HK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ECC61D4-84E6-DC0D-FA25-8735662C55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Hans-HK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9C1273-D31D-2DD4-5C72-617B5718CF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Hans-HK"/>
              <a:t>Click to edit Master text styles</a:t>
            </a:r>
          </a:p>
          <a:p>
            <a:pPr lvl="1"/>
            <a:r>
              <a:rPr lang="en-US" altLang="zh-Hans-HK"/>
              <a:t>Second level</a:t>
            </a:r>
          </a:p>
          <a:p>
            <a:pPr lvl="2"/>
            <a:r>
              <a:rPr lang="en-US" altLang="zh-Hans-HK"/>
              <a:t>Third level</a:t>
            </a:r>
          </a:p>
          <a:p>
            <a:pPr lvl="3"/>
            <a:r>
              <a:rPr lang="en-US" altLang="zh-Hans-HK"/>
              <a:t>Fourth level</a:t>
            </a:r>
          </a:p>
          <a:p>
            <a:pPr lvl="4"/>
            <a:r>
              <a:rPr lang="en-US" altLang="zh-Hans-HK"/>
              <a:t>Fifth level</a:t>
            </a:r>
            <a:endParaRPr lang="zh-Hans-HK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4B49D08-B5E6-272C-6F25-34493B973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7F418-1F33-411C-B3B3-CE0AA00A057D}" type="datetime1">
              <a:rPr lang="LID4096" altLang="en-US" smtClean="0"/>
              <a:t>10/20/2026</a:t>
            </a:fld>
            <a:endParaRPr lang="zh-Hans-HK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76C55B8-72CF-14B6-A557-934E333CA8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ans-HK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5D05408-B0C4-778B-1284-890BE65E2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57057-E763-426F-A796-25E54ADBE602}" type="slidenum">
              <a:rPr lang="zh-Hans-HK" altLang="en-US" smtClean="0"/>
              <a:t>‹#›</a:t>
            </a:fld>
            <a:endParaRPr lang="zh-Hans-HK" altLang="en-US"/>
          </a:p>
        </p:txBody>
      </p:sp>
    </p:spTree>
    <p:extLst>
      <p:ext uri="{BB962C8B-B14F-4D97-AF65-F5344CB8AC3E}">
        <p14:creationId xmlns:p14="http://schemas.microsoft.com/office/powerpoint/2010/main" val="5545509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EA068-1BBF-53EC-8651-F2CF1DEE6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ans-HK"/>
              <a:t>Click to edit Master title style</a:t>
            </a:r>
            <a:endParaRPr lang="zh-Hans-HK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F9EDCF-73A7-8922-9F09-0685666B9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9A79D-2DD5-4A5C-8EBF-D23236E3FE00}" type="datetime1">
              <a:rPr lang="LID4096" altLang="en-US" smtClean="0"/>
              <a:t>10/20/2026</a:t>
            </a:fld>
            <a:endParaRPr lang="zh-Hans-HK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BBE951-EFE7-FEA7-A197-976A231EC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ans-HK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61A2E7-3239-75F5-0540-9B796FDBD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57057-E763-426F-A796-25E54ADBE602}" type="slidenum">
              <a:rPr lang="zh-Hans-HK" altLang="en-US" smtClean="0"/>
              <a:t>‹#›</a:t>
            </a:fld>
            <a:endParaRPr lang="zh-Hans-HK" altLang="en-US"/>
          </a:p>
        </p:txBody>
      </p:sp>
    </p:spTree>
    <p:extLst>
      <p:ext uri="{BB962C8B-B14F-4D97-AF65-F5344CB8AC3E}">
        <p14:creationId xmlns:p14="http://schemas.microsoft.com/office/powerpoint/2010/main" val="11506711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D2B416-882E-4E70-B696-82D631BB61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462DF-4E7F-450F-91F9-DBBD4D73BA74}" type="datetime1">
              <a:rPr lang="LID4096" altLang="en-US" smtClean="0"/>
              <a:t>10/20/2026</a:t>
            </a:fld>
            <a:endParaRPr lang="zh-Hans-HK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0F54D5-D4BF-6704-40D9-DF1F86A0E6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ans-HK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1424EE-195A-203E-AEEF-C57A53EA5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57057-E763-426F-A796-25E54ADBE602}" type="slidenum">
              <a:rPr lang="zh-Hans-HK" altLang="en-US" smtClean="0"/>
              <a:t>‹#›</a:t>
            </a:fld>
            <a:endParaRPr lang="zh-Hans-HK" altLang="en-US"/>
          </a:p>
        </p:txBody>
      </p:sp>
    </p:spTree>
    <p:extLst>
      <p:ext uri="{BB962C8B-B14F-4D97-AF65-F5344CB8AC3E}">
        <p14:creationId xmlns:p14="http://schemas.microsoft.com/office/powerpoint/2010/main" val="33309436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5F113-5FD5-0F42-B3C1-65ED8A573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Hans-HK"/>
              <a:t>Click to edit Master title style</a:t>
            </a:r>
            <a:endParaRPr lang="zh-Hans-HK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F12949-7823-ABAD-B763-22BD9A38BF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Hans-HK"/>
              <a:t>Click to edit Master text styles</a:t>
            </a:r>
          </a:p>
          <a:p>
            <a:pPr lvl="1"/>
            <a:r>
              <a:rPr lang="en-US" altLang="zh-Hans-HK"/>
              <a:t>Second level</a:t>
            </a:r>
          </a:p>
          <a:p>
            <a:pPr lvl="2"/>
            <a:r>
              <a:rPr lang="en-US" altLang="zh-Hans-HK"/>
              <a:t>Third level</a:t>
            </a:r>
          </a:p>
          <a:p>
            <a:pPr lvl="3"/>
            <a:r>
              <a:rPr lang="en-US" altLang="zh-Hans-HK"/>
              <a:t>Fourth level</a:t>
            </a:r>
          </a:p>
          <a:p>
            <a:pPr lvl="4"/>
            <a:r>
              <a:rPr lang="en-US" altLang="zh-Hans-HK"/>
              <a:t>Fifth level</a:t>
            </a:r>
            <a:endParaRPr lang="zh-Hans-HK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B304B3-14C9-7F23-16C2-8449DA8C0A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Hans-HK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D08505-4C3C-1CC4-A197-7A857C3346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5F863-7016-40E7-B820-8B131EEDBB2F}" type="datetime1">
              <a:rPr lang="LID4096" altLang="en-US" smtClean="0"/>
              <a:t>10/20/2026</a:t>
            </a:fld>
            <a:endParaRPr lang="zh-Hans-HK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3CA00D-2F7F-DE67-BE5C-0FFD97BF5F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ans-HK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E14C2C-62D6-9E07-D818-B5E0BC749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57057-E763-426F-A796-25E54ADBE602}" type="slidenum">
              <a:rPr lang="zh-Hans-HK" altLang="en-US" smtClean="0"/>
              <a:t>‹#›</a:t>
            </a:fld>
            <a:endParaRPr lang="zh-Hans-HK" altLang="en-US"/>
          </a:p>
        </p:txBody>
      </p:sp>
    </p:spTree>
    <p:extLst>
      <p:ext uri="{BB962C8B-B14F-4D97-AF65-F5344CB8AC3E}">
        <p14:creationId xmlns:p14="http://schemas.microsoft.com/office/powerpoint/2010/main" val="23729291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4CBE85-66AB-3B32-D9DB-106E21D1C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Hans-HK"/>
              <a:t>Click to edit Master title style</a:t>
            </a:r>
            <a:endParaRPr lang="zh-Hans-HK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8D7F2F-EFD4-55E8-345C-04EC20C40211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Hans-HK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2AAA77-D628-624D-EADC-928C48CCBC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Hans-HK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99FDEC-2E5E-D49F-4D17-2C20F463B0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E485F-92E7-4D77-89C9-80FCFA7BB0F3}" type="datetime1">
              <a:rPr lang="LID4096" altLang="en-US" smtClean="0"/>
              <a:t>10/20/2026</a:t>
            </a:fld>
            <a:endParaRPr lang="zh-Hans-HK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00768E-A012-70DB-6BDC-23859AF035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ans-HK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FA7955-911C-87FC-332D-84F95E937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57057-E763-426F-A796-25E54ADBE602}" type="slidenum">
              <a:rPr lang="zh-Hans-HK" altLang="en-US" smtClean="0"/>
              <a:t>‹#›</a:t>
            </a:fld>
            <a:endParaRPr lang="zh-Hans-HK" altLang="en-US"/>
          </a:p>
        </p:txBody>
      </p:sp>
    </p:spTree>
    <p:extLst>
      <p:ext uri="{BB962C8B-B14F-4D97-AF65-F5344CB8AC3E}">
        <p14:creationId xmlns:p14="http://schemas.microsoft.com/office/powerpoint/2010/main" val="34947728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7D72A-86C5-73A3-69E8-4938A46EF4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ans-HK"/>
              <a:t>Click to edit Master title style</a:t>
            </a:r>
            <a:endParaRPr lang="zh-Hans-HK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843539-4493-8838-9CC2-36D32F0DA7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Hans-HK"/>
              <a:t>Click to edit Master text styles</a:t>
            </a:r>
          </a:p>
          <a:p>
            <a:pPr lvl="1"/>
            <a:r>
              <a:rPr lang="en-US" altLang="zh-Hans-HK"/>
              <a:t>Second level</a:t>
            </a:r>
          </a:p>
          <a:p>
            <a:pPr lvl="2"/>
            <a:r>
              <a:rPr lang="en-US" altLang="zh-Hans-HK"/>
              <a:t>Third level</a:t>
            </a:r>
          </a:p>
          <a:p>
            <a:pPr lvl="3"/>
            <a:r>
              <a:rPr lang="en-US" altLang="zh-Hans-HK"/>
              <a:t>Fourth level</a:t>
            </a:r>
          </a:p>
          <a:p>
            <a:pPr lvl="4"/>
            <a:r>
              <a:rPr lang="en-US" altLang="zh-Hans-HK"/>
              <a:t>Fifth level</a:t>
            </a:r>
            <a:endParaRPr lang="zh-Hans-HK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6AB4D7-A1D3-9E31-50C0-2903790C21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FB831-80DB-44B3-8536-9755ED9F416A}" type="datetime1">
              <a:rPr lang="LID4096" altLang="en-US" smtClean="0"/>
              <a:t>10/20/2026</a:t>
            </a:fld>
            <a:endParaRPr lang="zh-Hans-HK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CF5DD2-B84A-195B-A7CF-B3C0CA63C4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ans-HK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E87B20-030B-350D-025F-4710183B9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57057-E763-426F-A796-25E54ADBE602}" type="slidenum">
              <a:rPr lang="zh-Hans-HK" altLang="en-US" smtClean="0"/>
              <a:t>‹#›</a:t>
            </a:fld>
            <a:endParaRPr lang="zh-Hans-HK" altLang="en-US"/>
          </a:p>
        </p:txBody>
      </p:sp>
    </p:spTree>
    <p:extLst>
      <p:ext uri="{BB962C8B-B14F-4D97-AF65-F5344CB8AC3E}">
        <p14:creationId xmlns:p14="http://schemas.microsoft.com/office/powerpoint/2010/main" val="35868984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631F32-9735-1658-955E-FE66EAD850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Hans-HK"/>
              <a:t>Click to edit Master title style</a:t>
            </a:r>
            <a:endParaRPr lang="zh-Hans-HK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830829-967A-B227-5ABB-4E1EFEC81F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Hans-HK"/>
              <a:t>Click to edit Master text styles</a:t>
            </a:r>
          </a:p>
          <a:p>
            <a:pPr lvl="1"/>
            <a:r>
              <a:rPr lang="en-US" altLang="zh-Hans-HK"/>
              <a:t>Second level</a:t>
            </a:r>
          </a:p>
          <a:p>
            <a:pPr lvl="2"/>
            <a:r>
              <a:rPr lang="en-US" altLang="zh-Hans-HK"/>
              <a:t>Third level</a:t>
            </a:r>
          </a:p>
          <a:p>
            <a:pPr lvl="3"/>
            <a:r>
              <a:rPr lang="en-US" altLang="zh-Hans-HK"/>
              <a:t>Fourth level</a:t>
            </a:r>
          </a:p>
          <a:p>
            <a:pPr lvl="4"/>
            <a:r>
              <a:rPr lang="en-US" altLang="zh-Hans-HK"/>
              <a:t>Fifth level</a:t>
            </a:r>
            <a:endParaRPr lang="zh-Hans-HK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FED744-059C-A9BA-32D7-1C3394EE80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46DB2-C213-47C2-84D0-B7405DC953CD}" type="datetime1">
              <a:rPr lang="LID4096" altLang="en-US" smtClean="0"/>
              <a:t>10/20/2026</a:t>
            </a:fld>
            <a:endParaRPr lang="zh-Hans-HK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EBA370-8F3F-BCD7-EF8D-DE208F845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ans-HK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697118-B581-D95A-BBBC-F459C3D0B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57057-E763-426F-A796-25E54ADBE602}" type="slidenum">
              <a:rPr lang="zh-Hans-HK" altLang="en-US" smtClean="0"/>
              <a:t>‹#›</a:t>
            </a:fld>
            <a:endParaRPr lang="zh-Hans-HK" altLang="en-US"/>
          </a:p>
        </p:txBody>
      </p:sp>
    </p:spTree>
    <p:extLst>
      <p:ext uri="{BB962C8B-B14F-4D97-AF65-F5344CB8AC3E}">
        <p14:creationId xmlns:p14="http://schemas.microsoft.com/office/powerpoint/2010/main" val="8180098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DBF4E74-7FEB-5F47-23BF-E512015A01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Hans-HK"/>
              <a:t>Click to edit Master title style</a:t>
            </a:r>
            <a:endParaRPr lang="zh-Hans-HK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67D600-3838-BB04-A4CF-60A56CA8BB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Hans-HK"/>
              <a:t>Click to edit Master text styles</a:t>
            </a:r>
          </a:p>
          <a:p>
            <a:pPr lvl="1"/>
            <a:r>
              <a:rPr lang="en-US" altLang="zh-Hans-HK"/>
              <a:t>Second level</a:t>
            </a:r>
          </a:p>
          <a:p>
            <a:pPr lvl="2"/>
            <a:r>
              <a:rPr lang="en-US" altLang="zh-Hans-HK"/>
              <a:t>Third level</a:t>
            </a:r>
          </a:p>
          <a:p>
            <a:pPr lvl="3"/>
            <a:r>
              <a:rPr lang="en-US" altLang="zh-Hans-HK"/>
              <a:t>Fourth level</a:t>
            </a:r>
          </a:p>
          <a:p>
            <a:pPr lvl="4"/>
            <a:r>
              <a:rPr lang="en-US" altLang="zh-Hans-HK"/>
              <a:t>Fifth level</a:t>
            </a:r>
            <a:endParaRPr lang="zh-Hans-HK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79ACC7-2F8F-ED10-6472-3088FACEF3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7FE591-BF40-4903-AF7A-5D0EFE52F664}" type="datetime1">
              <a:rPr lang="LID4096" altLang="en-US" smtClean="0"/>
              <a:t>10/20/2026</a:t>
            </a:fld>
            <a:endParaRPr lang="zh-Hans-HK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DB1C22-61AC-E916-0E1C-0BE9163D3D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Hans-HK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B84195-C1CD-A440-60A7-7B340BDBD7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057057-E763-426F-A796-25E54ADBE602}" type="slidenum">
              <a:rPr lang="zh-Hans-HK" altLang="en-US" smtClean="0"/>
              <a:t>‹#›</a:t>
            </a:fld>
            <a:endParaRPr lang="zh-Hans-HK" altLang="en-US"/>
          </a:p>
        </p:txBody>
      </p:sp>
    </p:spTree>
    <p:extLst>
      <p:ext uri="{BB962C8B-B14F-4D97-AF65-F5344CB8AC3E}">
        <p14:creationId xmlns:p14="http://schemas.microsoft.com/office/powerpoint/2010/main" val="23262858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Hans-H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hyperlink" Target="https://plugins.qgis.org/plugins/fast_kernel_density_analysis/" TargetMode="External"/><Relationship Id="rId7" Type="http://schemas.openxmlformats.org/officeDocument/2006/relationships/hyperlink" Target="https://pypi.org/project/fastnsa/" TargetMode="Externa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hyperlink" Target="https://plugins.qgis.org/plugins/fast_line_density_analysis/" TargetMode="External"/><Relationship Id="rId4" Type="http://schemas.openxmlformats.org/officeDocument/2006/relationships/image" Target="../media/image21.png"/><Relationship Id="rId9" Type="http://schemas.openxmlformats.org/officeDocument/2006/relationships/hyperlink" Target="http://47.107.252.103:8080/index.html" TargetMode="Externa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B6CF2C-98B2-2F73-4825-88AB439E33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1300" y="2367989"/>
            <a:ext cx="11709400" cy="1522413"/>
          </a:xfrm>
        </p:spPr>
        <p:txBody>
          <a:bodyPr>
            <a:normAutofit fontScale="90000"/>
          </a:bodyPr>
          <a:lstStyle/>
          <a:p>
            <a:r>
              <a:rPr lang="zh-Hans-HK" altLang="zh-Hans-HK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Large-scale Geospatial Analytics: </a:t>
            </a:r>
            <a:br>
              <a:rPr lang="en-HK" altLang="zh-Hans-HK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zh-Hans-HK" altLang="zh-Hans-HK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 Method and Software Development</a:t>
            </a:r>
            <a:endParaRPr lang="zh-Hans-HK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46D40CB-FD4A-0F80-7F77-9F7750A969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1300" y="4088144"/>
            <a:ext cx="11572240" cy="1053484"/>
          </a:xfrm>
        </p:spPr>
        <p:txBody>
          <a:bodyPr>
            <a:normAutofit/>
          </a:bodyPr>
          <a:lstStyle/>
          <a:p>
            <a:r>
              <a:rPr lang="en-US" altLang="zh-HK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(Edison) Tsz Nam Chan</a:t>
            </a:r>
            <a:r>
              <a:rPr lang="en-US" altLang="zh-HK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HK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Dingming</a:t>
            </a:r>
            <a:r>
              <a:rPr lang="en-US" altLang="zh-HK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Wu</a:t>
            </a:r>
          </a:p>
          <a:p>
            <a:r>
              <a:rPr lang="en-US" altLang="zh-HK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Shenzhen University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CD90622-7829-EEDB-A9FF-5051F50F33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1232" y="62571"/>
            <a:ext cx="1428949" cy="1428949"/>
          </a:xfrm>
          <a:prstGeom prst="rect">
            <a:avLst/>
          </a:prstGeom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148868E-AA02-00CC-E1F4-E0D47B113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57057-E763-426F-A796-25E54ADBE602}" type="slidenum">
              <a:rPr lang="zh-Hans-HK" altLang="en-US" smtClean="0"/>
              <a:t>1</a:t>
            </a:fld>
            <a:endParaRPr lang="zh-Hans-HK" altLang="en-US"/>
          </a:p>
        </p:txBody>
      </p:sp>
    </p:spTree>
    <p:extLst>
      <p:ext uri="{BB962C8B-B14F-4D97-AF65-F5344CB8AC3E}">
        <p14:creationId xmlns:p14="http://schemas.microsoft.com/office/powerpoint/2010/main" val="3152925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225A15-B4D8-749A-7EDE-42820D1595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7371"/>
            <a:ext cx="10515600" cy="1325563"/>
          </a:xfrm>
        </p:spPr>
        <p:txBody>
          <a:bodyPr/>
          <a:lstStyle/>
          <a:p>
            <a:pPr algn="ctr"/>
            <a:r>
              <a:rPr lang="en-HK" altLang="zh-Hans-HK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Geospatial Analytics?</a:t>
            </a:r>
            <a:endParaRPr lang="zh-Hans-HK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圖片 4">
            <a:extLst>
              <a:ext uri="{FF2B5EF4-FFF2-40B4-BE49-F238E27FC236}">
                <a16:creationId xmlns:a16="http://schemas.microsoft.com/office/drawing/2014/main" id="{0197D03A-7C73-911E-D940-6261787D20B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1171"/>
          <a:stretch/>
        </p:blipFill>
        <p:spPr>
          <a:xfrm>
            <a:off x="652245" y="1357922"/>
            <a:ext cx="2554146" cy="2213593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DF918C3E-8264-6B8E-913C-C17603B62EB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0456"/>
          <a:stretch/>
        </p:blipFill>
        <p:spPr>
          <a:xfrm>
            <a:off x="3311461" y="1357921"/>
            <a:ext cx="2591532" cy="221359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4979E39-A1D1-554F-7E3D-7A40F1A11886}"/>
              </a:ext>
            </a:extLst>
          </p:cNvPr>
          <p:cNvSpPr txBox="1"/>
          <p:nvPr/>
        </p:nvSpPr>
        <p:spPr>
          <a:xfrm>
            <a:off x="1508784" y="3532455"/>
            <a:ext cx="36327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ans-HK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Kernel density visualization</a:t>
            </a:r>
            <a:endParaRPr lang="zh-Hans-HK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橢圓 470">
            <a:extLst>
              <a:ext uri="{FF2B5EF4-FFF2-40B4-BE49-F238E27FC236}">
                <a16:creationId xmlns:a16="http://schemas.microsoft.com/office/drawing/2014/main" id="{C4A9A811-1C1C-13A0-7BCF-499C420CF5E3}"/>
              </a:ext>
            </a:extLst>
          </p:cNvPr>
          <p:cNvSpPr/>
          <p:nvPr/>
        </p:nvSpPr>
        <p:spPr>
          <a:xfrm flipV="1">
            <a:off x="1081541" y="3268849"/>
            <a:ext cx="69892" cy="69892"/>
          </a:xfrm>
          <a:prstGeom prst="ellipse">
            <a:avLst/>
          </a:prstGeom>
          <a:noFill/>
          <a:ln>
            <a:solidFill>
              <a:srgbClr val="FF3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cxnSp>
        <p:nvCxnSpPr>
          <p:cNvPr id="8" name="直線接點 472">
            <a:extLst>
              <a:ext uri="{FF2B5EF4-FFF2-40B4-BE49-F238E27FC236}">
                <a16:creationId xmlns:a16="http://schemas.microsoft.com/office/drawing/2014/main" id="{8D06A883-C49E-7B0A-9D7F-A668838644D5}"/>
              </a:ext>
            </a:extLst>
          </p:cNvPr>
          <p:cNvCxnSpPr>
            <a:cxnSpLocks/>
            <a:endCxn id="7" idx="6"/>
          </p:cNvCxnSpPr>
          <p:nvPr/>
        </p:nvCxnSpPr>
        <p:spPr>
          <a:xfrm flipH="1">
            <a:off x="1151433" y="3303795"/>
            <a:ext cx="289257" cy="0"/>
          </a:xfrm>
          <a:prstGeom prst="line">
            <a:avLst/>
          </a:prstGeom>
          <a:ln w="12700">
            <a:solidFill>
              <a:srgbClr val="FF33CC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字方塊 473">
                <a:extLst>
                  <a:ext uri="{FF2B5EF4-FFF2-40B4-BE49-F238E27FC236}">
                    <a16:creationId xmlns:a16="http://schemas.microsoft.com/office/drawing/2014/main" id="{DA6104F8-486E-7C6E-6EDA-182119C88777}"/>
                  </a:ext>
                </a:extLst>
              </p:cNvPr>
              <p:cNvSpPr txBox="1"/>
              <p:nvPr/>
            </p:nvSpPr>
            <p:spPr>
              <a:xfrm>
                <a:off x="940521" y="3053663"/>
                <a:ext cx="358560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HK" sz="1050" b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HK" sz="1050" b="1">
                              <a:latin typeface="Cambria Math" panose="02040503050406030204" pitchFamily="18" charset="0"/>
                            </a:rPr>
                            <m:t>𝐩</m:t>
                          </m:r>
                        </m:e>
                        <m:sub>
                          <m:r>
                            <a:rPr lang="en-US" altLang="zh-HK" sz="105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HK" altLang="en-US" sz="1050" dirty="0"/>
              </a:p>
            </p:txBody>
          </p:sp>
        </mc:Choice>
        <mc:Fallback>
          <p:sp>
            <p:nvSpPr>
              <p:cNvPr id="9" name="文字方塊 473">
                <a:extLst>
                  <a:ext uri="{FF2B5EF4-FFF2-40B4-BE49-F238E27FC236}">
                    <a16:creationId xmlns:a16="http://schemas.microsoft.com/office/drawing/2014/main" id="{DA6104F8-486E-7C6E-6EDA-182119C887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0521" y="3053663"/>
                <a:ext cx="358560" cy="25391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直線接點 477">
            <a:extLst>
              <a:ext uri="{FF2B5EF4-FFF2-40B4-BE49-F238E27FC236}">
                <a16:creationId xmlns:a16="http://schemas.microsoft.com/office/drawing/2014/main" id="{8229D337-8359-57EE-EA27-C405DF9E05A8}"/>
              </a:ext>
            </a:extLst>
          </p:cNvPr>
          <p:cNvCxnSpPr>
            <a:cxnSpLocks/>
          </p:cNvCxnSpPr>
          <p:nvPr/>
        </p:nvCxnSpPr>
        <p:spPr>
          <a:xfrm flipH="1" flipV="1">
            <a:off x="1611573" y="3088692"/>
            <a:ext cx="204535" cy="204535"/>
          </a:xfrm>
          <a:prstGeom prst="line">
            <a:avLst/>
          </a:prstGeom>
          <a:ln w="12700">
            <a:solidFill>
              <a:srgbClr val="3333F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0E6647EE-22F0-C565-A4E6-E8A4BA1461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425" y="4003746"/>
            <a:ext cx="5882640" cy="247070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34CDA15-EB74-1ADE-4956-AD10059F7708}"/>
              </a:ext>
            </a:extLst>
          </p:cNvPr>
          <p:cNvSpPr txBox="1"/>
          <p:nvPr/>
        </p:nvSpPr>
        <p:spPr>
          <a:xfrm>
            <a:off x="2010464" y="6396335"/>
            <a:ext cx="26019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K-function analysis</a:t>
            </a:r>
            <a:endParaRPr lang="zh-Hans-HK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Picture 16" descr="A map with red lines&#10;&#10;Description automatically generated">
            <a:extLst>
              <a:ext uri="{FF2B5EF4-FFF2-40B4-BE49-F238E27FC236}">
                <a16:creationId xmlns:a16="http://schemas.microsoft.com/office/drawing/2014/main" id="{1DD6FBAD-19BC-B255-C527-CE85163601E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441" y="1357921"/>
            <a:ext cx="2028669" cy="2216675"/>
          </a:xfrm>
          <a:prstGeom prst="rect">
            <a:avLst/>
          </a:prstGeom>
        </p:spPr>
      </p:pic>
      <p:pic>
        <p:nvPicPr>
          <p:cNvPr id="19" name="Picture 18" descr="A map with a map of the city&#10;&#10;Description automatically generated with medium confidence">
            <a:extLst>
              <a:ext uri="{FF2B5EF4-FFF2-40B4-BE49-F238E27FC236}">
                <a16:creationId xmlns:a16="http://schemas.microsoft.com/office/drawing/2014/main" id="{3ACB54F1-57F8-F55F-106E-0E55B54073C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5131" y="1357920"/>
            <a:ext cx="2028669" cy="2214881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23748213-E66E-622C-3D4C-E0632DBCDD17}"/>
              </a:ext>
            </a:extLst>
          </p:cNvPr>
          <p:cNvSpPr txBox="1"/>
          <p:nvPr/>
        </p:nvSpPr>
        <p:spPr>
          <a:xfrm>
            <a:off x="7645825" y="3542081"/>
            <a:ext cx="33586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ans-HK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 density visualization</a:t>
            </a:r>
            <a:endParaRPr lang="zh-Hans-HK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4C1D20E8-62FC-026E-BBB2-C64769A1037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12441" y="4004099"/>
            <a:ext cx="4115552" cy="2392236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F48C7C7D-6A9E-1FAA-7B24-6999F1EB9FBF}"/>
              </a:ext>
            </a:extLst>
          </p:cNvPr>
          <p:cNvSpPr txBox="1"/>
          <p:nvPr/>
        </p:nvSpPr>
        <p:spPr>
          <a:xfrm>
            <a:off x="8079761" y="6364173"/>
            <a:ext cx="21226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Point clustering</a:t>
            </a:r>
            <a:endParaRPr lang="zh-Hans-HK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Slide Number Placeholder 29">
            <a:extLst>
              <a:ext uri="{FF2B5EF4-FFF2-40B4-BE49-F238E27FC236}">
                <a16:creationId xmlns:a16="http://schemas.microsoft.com/office/drawing/2014/main" id="{DC3851CF-CE5A-60C7-E031-972EDDF8B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57057-E763-426F-A796-25E54ADBE602}" type="slidenum">
              <a:rPr lang="zh-Hans-HK" altLang="en-US" smtClean="0"/>
              <a:t>2</a:t>
            </a:fld>
            <a:endParaRPr lang="zh-Hans-HK" altLang="en-US"/>
          </a:p>
        </p:txBody>
      </p:sp>
    </p:spTree>
    <p:extLst>
      <p:ext uri="{BB962C8B-B14F-4D97-AF65-F5344CB8AC3E}">
        <p14:creationId xmlns:p14="http://schemas.microsoft.com/office/powerpoint/2010/main" val="41257852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4F8E6-F0A6-529C-4C28-5294CFAC47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HK" altLang="zh-Hans-HK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Contemporary GIS Software Packages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10794650-8797-0AE0-45A8-BDFA49AB92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5066" y="2047504"/>
            <a:ext cx="1187979" cy="1187979"/>
          </a:xfrm>
          <a:prstGeom prst="rect">
            <a:avLst/>
          </a:prstGeom>
        </p:spPr>
      </p:pic>
      <p:pic>
        <p:nvPicPr>
          <p:cNvPr id="7" name="圖片 5">
            <a:extLst>
              <a:ext uri="{FF2B5EF4-FFF2-40B4-BE49-F238E27FC236}">
                <a16:creationId xmlns:a16="http://schemas.microsoft.com/office/drawing/2014/main" id="{B1BE8244-B170-DB53-16A0-6DCF2FA52A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1323" y="3680577"/>
            <a:ext cx="2285839" cy="767853"/>
          </a:xfrm>
          <a:prstGeom prst="rect">
            <a:avLst/>
          </a:prstGeom>
        </p:spPr>
      </p:pic>
      <p:pic>
        <p:nvPicPr>
          <p:cNvPr id="9" name="Picture 2" descr="Spatial Analysis on Network • spNetwork">
            <a:extLst>
              <a:ext uri="{FF2B5EF4-FFF2-40B4-BE49-F238E27FC236}">
                <a16:creationId xmlns:a16="http://schemas.microsoft.com/office/drawing/2014/main" id="{40B9E2E3-A635-7046-68A8-5537E236B9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6765" y="5002760"/>
            <a:ext cx="1487460" cy="17152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圖片 8">
            <a:extLst>
              <a:ext uri="{FF2B5EF4-FFF2-40B4-BE49-F238E27FC236}">
                <a16:creationId xmlns:a16="http://schemas.microsoft.com/office/drawing/2014/main" id="{5E7730D5-24A0-2D93-7184-A977958B5B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43303" y="3487960"/>
            <a:ext cx="2892417" cy="1088978"/>
          </a:xfrm>
          <a:prstGeom prst="rect">
            <a:avLst/>
          </a:prstGeom>
        </p:spPr>
      </p:pic>
      <p:pic>
        <p:nvPicPr>
          <p:cNvPr id="13" name="圖片 9">
            <a:extLst>
              <a:ext uri="{FF2B5EF4-FFF2-40B4-BE49-F238E27FC236}">
                <a16:creationId xmlns:a16="http://schemas.microsoft.com/office/drawing/2014/main" id="{ADB06A5C-8D36-78E7-9035-88F9FF87E50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3303" y="2226592"/>
            <a:ext cx="3000485" cy="888493"/>
          </a:xfrm>
          <a:prstGeom prst="rect">
            <a:avLst/>
          </a:prstGeom>
        </p:spPr>
      </p:pic>
      <p:pic>
        <p:nvPicPr>
          <p:cNvPr id="15" name="Picture 2" descr="SuperMap logo">
            <a:extLst>
              <a:ext uri="{FF2B5EF4-FFF2-40B4-BE49-F238E27FC236}">
                <a16:creationId xmlns:a16="http://schemas.microsoft.com/office/drawing/2014/main" id="{9A0154E5-6F79-01AF-856A-968F1821B2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2092" y="2113494"/>
            <a:ext cx="3424303" cy="9847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BE01FF4-A501-CD9C-2736-B6ABF244C1A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53621" y="5324523"/>
            <a:ext cx="2462413" cy="107168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0C3C7D35-7122-43E2-2F19-097FDBF286A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71003" y="5451424"/>
            <a:ext cx="2462413" cy="681191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FC9CEEFD-D59A-F36C-1391-BA010AF8BED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80062" y="3408253"/>
            <a:ext cx="2177985" cy="1479166"/>
          </a:xfrm>
          <a:prstGeom prst="rect">
            <a:avLst/>
          </a:prstGeom>
        </p:spPr>
      </p:pic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78135D27-8B40-0C9C-D8B4-6D80D3569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57057-E763-426F-A796-25E54ADBE602}" type="slidenum">
              <a:rPr lang="zh-Hans-HK" altLang="en-US" smtClean="0"/>
              <a:t>3</a:t>
            </a:fld>
            <a:endParaRPr lang="zh-Hans-HK" altLang="en-US"/>
          </a:p>
        </p:txBody>
      </p:sp>
    </p:spTree>
    <p:extLst>
      <p:ext uri="{BB962C8B-B14F-4D97-AF65-F5344CB8AC3E}">
        <p14:creationId xmlns:p14="http://schemas.microsoft.com/office/powerpoint/2010/main" val="28078293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8E536-F026-96A8-F941-503CA7B86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HK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Weakness of Geospatial Analytics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212D39-B3D8-FD6A-65C5-91DF1091CC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HK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GIS software packages are very slow. </a:t>
            </a:r>
            <a:r>
              <a:rPr lang="en-HK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</a:t>
            </a:r>
            <a:endParaRPr lang="en-HK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HK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HK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Reasons:</a:t>
            </a:r>
          </a:p>
          <a:p>
            <a:pPr lvl="1"/>
            <a:r>
              <a:rPr lang="en-HK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time complexity.</a:t>
            </a:r>
          </a:p>
          <a:p>
            <a:pPr lvl="1"/>
            <a:r>
              <a:rPr lang="en-HK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efficient algorithm development.</a:t>
            </a:r>
          </a:p>
          <a:p>
            <a:pPr lvl="1"/>
            <a:r>
              <a:rPr lang="en-HK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deployment.</a:t>
            </a:r>
          </a:p>
          <a:p>
            <a:pPr lvl="1"/>
            <a:endParaRPr lang="en-HK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HK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Consequence: Cannot be scalable to large-scale datasets.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E083DC-C487-973C-C3D9-CE7499729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57057-E763-426F-A796-25E54ADBE602}" type="slidenum">
              <a:rPr lang="zh-Hans-HK" altLang="en-US" smtClean="0"/>
              <a:t>4</a:t>
            </a:fld>
            <a:endParaRPr lang="zh-Hans-HK" altLang="en-US"/>
          </a:p>
        </p:txBody>
      </p:sp>
    </p:spTree>
    <p:extLst>
      <p:ext uri="{BB962C8B-B14F-4D97-AF65-F5344CB8AC3E}">
        <p14:creationId xmlns:p14="http://schemas.microsoft.com/office/powerpoint/2010/main" val="10195694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E017F-E918-B7C1-A832-3204E6AFD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HK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Weakness of Geospatial Analytics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0125B4B-FAC7-4EE8-2366-F51F7C1884D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33341" y="1532089"/>
                <a:ext cx="6302160" cy="4733800"/>
              </a:xfrm>
            </p:spPr>
            <p:txBody>
              <a:bodyPr/>
              <a:lstStyle/>
              <a:p>
                <a:r>
                  <a:rPr lang="en-HK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Example: Generating heatmap based on kernel density visualization.</a:t>
                </a:r>
              </a:p>
              <a:p>
                <a:pPr lvl="1"/>
                <a:r>
                  <a:rPr lang="en-HK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Resolution size: </a:t>
                </a:r>
                <a14:m>
                  <m:oMath xmlns:m="http://schemas.openxmlformats.org/officeDocument/2006/math">
                    <m:r>
                      <a:rPr lang="en-HK" altLang="zh-CN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2560</m:t>
                    </m:r>
                    <m:r>
                      <a:rPr lang="en-HK" altLang="zh-CN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HK" altLang="zh-CN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192</m:t>
                    </m:r>
                    <m:r>
                      <a:rPr lang="en-HK" altLang="zh-CN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</m:t>
                    </m:r>
                  </m:oMath>
                </a14:m>
                <a:endParaRPr lang="en-HK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:r>
                  <a:rPr lang="en-HK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Number of data points: one million.</a:t>
                </a:r>
              </a:p>
              <a:p>
                <a:pPr lvl="1"/>
                <a:r>
                  <a:rPr lang="en-HK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Number of operations: 4.915 trillion operations </a:t>
                </a:r>
                <a:r>
                  <a:rPr lang="en-HK" altLang="zh-CN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</a:t>
                </a:r>
              </a:p>
              <a:p>
                <a:endParaRPr lang="en-HK" altLang="zh-CN" dirty="0">
                  <a:latin typeface="Times New Roman" panose="02020603050405020304" pitchFamily="18" charset="0"/>
                  <a:cs typeface="Times New Roman" panose="02020603050405020304" pitchFamily="18" charset="0"/>
                  <a:sym typeface="Wingdings" panose="05000000000000000000" pitchFamily="2" charset="2"/>
                </a:endParaRPr>
              </a:p>
              <a:p>
                <a:r>
                  <a:rPr lang="en-HK" altLang="zh-CN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Cannot be feasible even for million-scale datasets. 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0125B4B-FAC7-4EE8-2366-F51F7C1884D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33341" y="1532089"/>
                <a:ext cx="6302160" cy="4733800"/>
              </a:xfrm>
              <a:blipFill>
                <a:blip r:embed="rId2"/>
                <a:stretch>
                  <a:fillRect l="-1741" t="-2188" r="-27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圖片 4">
            <a:extLst>
              <a:ext uri="{FF2B5EF4-FFF2-40B4-BE49-F238E27FC236}">
                <a16:creationId xmlns:a16="http://schemas.microsoft.com/office/drawing/2014/main" id="{9F434691-F6B6-A61C-B205-379FB6E9C3E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1171"/>
          <a:stretch/>
        </p:blipFill>
        <p:spPr>
          <a:xfrm>
            <a:off x="6683188" y="1657722"/>
            <a:ext cx="2554146" cy="2213593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B02D991E-609F-023E-25EC-58BF309A84F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0456"/>
          <a:stretch/>
        </p:blipFill>
        <p:spPr>
          <a:xfrm>
            <a:off x="9342404" y="1657721"/>
            <a:ext cx="2591532" cy="221359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91D9365-F058-98A2-68AC-40BD6640C666}"/>
              </a:ext>
            </a:extLst>
          </p:cNvPr>
          <p:cNvSpPr txBox="1"/>
          <p:nvPr/>
        </p:nvSpPr>
        <p:spPr>
          <a:xfrm>
            <a:off x="7147430" y="3808213"/>
            <a:ext cx="17636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ans-HK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Point dataset</a:t>
            </a:r>
            <a:endParaRPr lang="zh-Hans-HK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橢圓 470">
            <a:extLst>
              <a:ext uri="{FF2B5EF4-FFF2-40B4-BE49-F238E27FC236}">
                <a16:creationId xmlns:a16="http://schemas.microsoft.com/office/drawing/2014/main" id="{AF32AA2C-15BB-6902-0059-074D7963F637}"/>
              </a:ext>
            </a:extLst>
          </p:cNvPr>
          <p:cNvSpPr/>
          <p:nvPr/>
        </p:nvSpPr>
        <p:spPr>
          <a:xfrm flipV="1">
            <a:off x="7112484" y="3568649"/>
            <a:ext cx="69892" cy="69892"/>
          </a:xfrm>
          <a:prstGeom prst="ellipse">
            <a:avLst/>
          </a:prstGeom>
          <a:noFill/>
          <a:ln>
            <a:solidFill>
              <a:srgbClr val="FF3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cxnSp>
        <p:nvCxnSpPr>
          <p:cNvPr id="8" name="直線接點 472">
            <a:extLst>
              <a:ext uri="{FF2B5EF4-FFF2-40B4-BE49-F238E27FC236}">
                <a16:creationId xmlns:a16="http://schemas.microsoft.com/office/drawing/2014/main" id="{B28CD99D-F488-151B-A411-739BF1B3AB1A}"/>
              </a:ext>
            </a:extLst>
          </p:cNvPr>
          <p:cNvCxnSpPr>
            <a:cxnSpLocks/>
            <a:endCxn id="7" idx="6"/>
          </p:cNvCxnSpPr>
          <p:nvPr/>
        </p:nvCxnSpPr>
        <p:spPr>
          <a:xfrm flipH="1">
            <a:off x="7182376" y="3603595"/>
            <a:ext cx="289257" cy="0"/>
          </a:xfrm>
          <a:prstGeom prst="line">
            <a:avLst/>
          </a:prstGeom>
          <a:ln w="12700">
            <a:solidFill>
              <a:srgbClr val="FF33CC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字方塊 473">
                <a:extLst>
                  <a:ext uri="{FF2B5EF4-FFF2-40B4-BE49-F238E27FC236}">
                    <a16:creationId xmlns:a16="http://schemas.microsoft.com/office/drawing/2014/main" id="{FF1CB539-114C-048F-2893-8814E6284B4D}"/>
                  </a:ext>
                </a:extLst>
              </p:cNvPr>
              <p:cNvSpPr txBox="1"/>
              <p:nvPr/>
            </p:nvSpPr>
            <p:spPr>
              <a:xfrm>
                <a:off x="6971464" y="3353463"/>
                <a:ext cx="358560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HK" sz="1050" b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HK" sz="1050" b="1">
                              <a:latin typeface="Cambria Math" panose="02040503050406030204" pitchFamily="18" charset="0"/>
                            </a:rPr>
                            <m:t>𝐩</m:t>
                          </m:r>
                        </m:e>
                        <m:sub>
                          <m:r>
                            <a:rPr lang="en-US" altLang="zh-HK" sz="105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HK" altLang="en-US" sz="1050" dirty="0"/>
              </a:p>
            </p:txBody>
          </p:sp>
        </mc:Choice>
        <mc:Fallback>
          <p:sp>
            <p:nvSpPr>
              <p:cNvPr id="9" name="文字方塊 473">
                <a:extLst>
                  <a:ext uri="{FF2B5EF4-FFF2-40B4-BE49-F238E27FC236}">
                    <a16:creationId xmlns:a16="http://schemas.microsoft.com/office/drawing/2014/main" id="{FF1CB539-114C-048F-2893-8814E6284B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1464" y="3353463"/>
                <a:ext cx="358560" cy="25391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直線接點 477">
            <a:extLst>
              <a:ext uri="{FF2B5EF4-FFF2-40B4-BE49-F238E27FC236}">
                <a16:creationId xmlns:a16="http://schemas.microsoft.com/office/drawing/2014/main" id="{66A35FB2-7482-4B4C-1D93-F2CE547CBA94}"/>
              </a:ext>
            </a:extLst>
          </p:cNvPr>
          <p:cNvCxnSpPr>
            <a:cxnSpLocks/>
          </p:cNvCxnSpPr>
          <p:nvPr/>
        </p:nvCxnSpPr>
        <p:spPr>
          <a:xfrm flipH="1" flipV="1">
            <a:off x="7642516" y="3388492"/>
            <a:ext cx="204535" cy="204535"/>
          </a:xfrm>
          <a:prstGeom prst="line">
            <a:avLst/>
          </a:prstGeom>
          <a:ln w="12700">
            <a:solidFill>
              <a:srgbClr val="3333F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AE7D7E0B-9170-04FF-2B0A-1B733E6E524C}"/>
              </a:ext>
            </a:extLst>
          </p:cNvPr>
          <p:cNvSpPr txBox="1"/>
          <p:nvPr/>
        </p:nvSpPr>
        <p:spPr>
          <a:xfrm>
            <a:off x="9991198" y="3790907"/>
            <a:ext cx="12939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ans-HK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Heatmap</a:t>
            </a:r>
            <a:endParaRPr lang="zh-Hans-HK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1B535BA5-D038-F882-9465-36ABB47E9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57057-E763-426F-A796-25E54ADBE602}" type="slidenum">
              <a:rPr lang="zh-Hans-HK" altLang="en-US" smtClean="0"/>
              <a:t>5</a:t>
            </a:fld>
            <a:endParaRPr lang="zh-Hans-HK" altLang="en-US"/>
          </a:p>
        </p:txBody>
      </p:sp>
    </p:spTree>
    <p:extLst>
      <p:ext uri="{BB962C8B-B14F-4D97-AF65-F5344CB8AC3E}">
        <p14:creationId xmlns:p14="http://schemas.microsoft.com/office/powerpoint/2010/main" val="36252019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D7950-8E33-7011-A87B-FEEB844D0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1321"/>
            <a:ext cx="10515600" cy="1325563"/>
          </a:xfrm>
        </p:spPr>
        <p:txBody>
          <a:bodyPr/>
          <a:lstStyle/>
          <a:p>
            <a:pPr algn="ctr"/>
            <a:r>
              <a:rPr lang="en-HK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Solutions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50B05C-03B3-1EE7-A2A9-CF62F7F4888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88298" y="1280593"/>
                <a:ext cx="11168921" cy="5577407"/>
              </a:xfrm>
            </p:spPr>
            <p:txBody>
              <a:bodyPr/>
              <a:lstStyle/>
              <a:p>
                <a:r>
                  <a:rPr lang="en-HK" altLang="zh-C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Kernel Density Visualization (KDV)</a:t>
                </a:r>
              </a:p>
              <a:p>
                <a:pPr lvl="1"/>
                <a:r>
                  <a:rPr lang="en-HK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Develop the sweep-line algorithm (SLAM), which reduces the time complexity from </a:t>
                </a:r>
                <a14:m>
                  <m:oMath xmlns:m="http://schemas.openxmlformats.org/officeDocument/2006/math">
                    <m:r>
                      <a:rPr lang="en-HK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r>
                      <a:rPr lang="en-HK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HK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𝑋𝑌𝑛</m:t>
                    </m:r>
                    <m:r>
                      <a:rPr lang="en-HK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HK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to </a:t>
                </a:r>
                <a14:m>
                  <m:oMath xmlns:m="http://schemas.openxmlformats.org/officeDocument/2006/math">
                    <m:r>
                      <a:rPr lang="en-HK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r>
                      <a:rPr lang="en-HK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HK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𝑌</m:t>
                    </m:r>
                    <m:r>
                      <a:rPr lang="en-HK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HK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HK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HK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HK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))</m:t>
                    </m:r>
                  </m:oMath>
                </a14:m>
                <a:r>
                  <a:rPr lang="en-HK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en-HK" altLang="zh-CN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</a:t>
                </a:r>
                <a:endParaRPr lang="en-HK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HK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HK" altLang="zh-C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Spatiotemporal Kernel Density Visualization (STKDV)</a:t>
                </a:r>
              </a:p>
              <a:p>
                <a:pPr lvl="1"/>
                <a:r>
                  <a:rPr lang="en-HK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Develop the prefix-matrix-based algorithm (PREFIX), which reduces the time complexity from </a:t>
                </a:r>
                <a14:m>
                  <m:oMath xmlns:m="http://schemas.openxmlformats.org/officeDocument/2006/math">
                    <m:r>
                      <a:rPr lang="en-HK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r>
                      <a:rPr lang="en-HK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HK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𝑋𝑌𝑇𝑛</m:t>
                    </m:r>
                    <m:r>
                      <a:rPr lang="en-HK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HK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to </a:t>
                </a:r>
                <a14:m>
                  <m:oMath xmlns:m="http://schemas.openxmlformats.org/officeDocument/2006/math">
                    <m:r>
                      <a:rPr lang="en-HK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r>
                      <a:rPr lang="en-HK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HK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𝑋𝑌𝑇</m:t>
                    </m:r>
                    <m:r>
                      <a:rPr lang="en-HK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HK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HK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HK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en-HK" altLang="zh-CN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</a:t>
                </a:r>
                <a:endParaRPr lang="en-HK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HK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HK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Other complexity-reduced algorithms for</a:t>
                </a:r>
              </a:p>
              <a:p>
                <a:pPr lvl="1"/>
                <a:r>
                  <a:rPr lang="en-HK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Network and Network-temporal kernel density visualization (NKDV/NTKDV)</a:t>
                </a:r>
              </a:p>
              <a:p>
                <a:pPr lvl="1"/>
                <a:r>
                  <a:rPr lang="en-HK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Network and Network-temporal K-function</a:t>
                </a:r>
              </a:p>
              <a:p>
                <a:pPr lvl="1"/>
                <a:r>
                  <a:rPr lang="en-HK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Spatiotemporal K-function</a:t>
                </a:r>
              </a:p>
              <a:p>
                <a:pPr lvl="1"/>
                <a:r>
                  <a:rPr lang="en-HK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Line density visualization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50B05C-03B3-1EE7-A2A9-CF62F7F4888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8298" y="1280593"/>
                <a:ext cx="11168921" cy="5577407"/>
              </a:xfrm>
              <a:blipFill>
                <a:blip r:embed="rId2"/>
                <a:stretch>
                  <a:fillRect l="-983" t="-1858" b="-17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DF0CF6-B251-CF9B-19D5-3161BF14B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57057-E763-426F-A796-25E54ADBE602}" type="slidenum">
              <a:rPr lang="zh-Hans-HK" altLang="en-US" smtClean="0"/>
              <a:t>6</a:t>
            </a:fld>
            <a:endParaRPr lang="zh-Hans-HK" altLang="en-US"/>
          </a:p>
        </p:txBody>
      </p:sp>
    </p:spTree>
    <p:extLst>
      <p:ext uri="{BB962C8B-B14F-4D97-AF65-F5344CB8AC3E}">
        <p14:creationId xmlns:p14="http://schemas.microsoft.com/office/powerpoint/2010/main" val="29812466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89CEBF-9D1D-DE6E-C6C6-BCBB6CD95F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0315"/>
            <a:ext cx="10515600" cy="1325563"/>
          </a:xfrm>
        </p:spPr>
        <p:txBody>
          <a:bodyPr/>
          <a:lstStyle/>
          <a:p>
            <a:pPr algn="ctr"/>
            <a:r>
              <a:rPr lang="en-HK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Software Packages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D602F3-36A9-168C-94A7-07444ABF2F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79169"/>
            <a:ext cx="8202170" cy="191479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1DA25C7-9D33-CF8F-2E57-4D8D38C1882B}"/>
              </a:ext>
            </a:extLst>
          </p:cNvPr>
          <p:cNvSpPr txBox="1"/>
          <p:nvPr/>
        </p:nvSpPr>
        <p:spPr>
          <a:xfrm>
            <a:off x="1832548" y="2963128"/>
            <a:ext cx="28687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Fast Density Analysis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4AE0A68-2485-1BC5-53B3-D2B7C5B6DC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279169"/>
            <a:ext cx="5677692" cy="172426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92E3821-3DD3-4735-5585-6DC76F94D305}"/>
              </a:ext>
            </a:extLst>
          </p:cNvPr>
          <p:cNvSpPr txBox="1"/>
          <p:nvPr/>
        </p:nvSpPr>
        <p:spPr>
          <a:xfrm>
            <a:off x="7606259" y="2963127"/>
            <a:ext cx="35083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Fast Line Density Analysis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11C94DD-EC6B-D4DB-A8E5-4011DEAEF15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1841" y="3650318"/>
            <a:ext cx="6268464" cy="2439922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7C68007C-AD09-C60F-F433-B425DDC54D61}"/>
              </a:ext>
            </a:extLst>
          </p:cNvPr>
          <p:cNvSpPr txBox="1"/>
          <p:nvPr/>
        </p:nvSpPr>
        <p:spPr>
          <a:xfrm>
            <a:off x="687028" y="6027003"/>
            <a:ext cx="54078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Fast Network Spatial Analysis (</a:t>
            </a:r>
            <a:r>
              <a:rPr lang="en-HK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FastNSA</a:t>
            </a:r>
            <a:r>
              <a:rPr lang="en-HK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)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0FBD5708-28C7-4892-295B-4053AC2F36F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35571" y="3587080"/>
            <a:ext cx="4883434" cy="2439923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92322E25-D0D9-4FEC-E9CC-55800C205A83}"/>
              </a:ext>
            </a:extLst>
          </p:cNvPr>
          <p:cNvSpPr txBox="1"/>
          <p:nvPr/>
        </p:nvSpPr>
        <p:spPr>
          <a:xfrm>
            <a:off x="6390305" y="6027003"/>
            <a:ext cx="594425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HK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9"/>
              </a:rPr>
              <a:t>Spatial-Temporal Analysis with Rapid System </a:t>
            </a:r>
          </a:p>
          <a:p>
            <a:pPr algn="ctr"/>
            <a:r>
              <a:rPr lang="en-HK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9"/>
              </a:rPr>
              <a:t>(STARS)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27312DE8-0B55-468E-1422-9E3D6781B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33810" y="6580668"/>
            <a:ext cx="2743200" cy="365125"/>
          </a:xfrm>
        </p:spPr>
        <p:txBody>
          <a:bodyPr/>
          <a:lstStyle/>
          <a:p>
            <a:fld id="{B8057057-E763-426F-A796-25E54ADBE602}" type="slidenum">
              <a:rPr lang="zh-Hans-HK" altLang="en-US" smtClean="0"/>
              <a:t>7</a:t>
            </a:fld>
            <a:endParaRPr lang="zh-Hans-HK" altLang="en-US" dirty="0"/>
          </a:p>
        </p:txBody>
      </p:sp>
    </p:spTree>
    <p:extLst>
      <p:ext uri="{BB962C8B-B14F-4D97-AF65-F5344CB8AC3E}">
        <p14:creationId xmlns:p14="http://schemas.microsoft.com/office/powerpoint/2010/main" val="5663878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7D6892-E9F0-E86C-31B1-AD11EB030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HK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Work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FAA3F9-FD87-45BB-7713-770F9BECF7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5562"/>
            <a:ext cx="10719216" cy="5532437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efficient algorithms for other GIS tools.</a:t>
            </a:r>
          </a:p>
          <a:p>
            <a:pPr lvl="1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Inverse distance weighting (IDW)</a:t>
            </a:r>
          </a:p>
          <a:p>
            <a:pPr lvl="1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Kriging</a:t>
            </a:r>
          </a:p>
          <a:p>
            <a:pPr lvl="1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DBSCAN clustering</a:t>
            </a:r>
          </a:p>
          <a:p>
            <a:pPr lvl="1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Moran’s I</a:t>
            </a:r>
          </a:p>
          <a:p>
            <a:pPr lvl="1"/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Getis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-Ord General G</a:t>
            </a:r>
          </a:p>
          <a:p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these algorithms into unified QGIS and ArcGIS plugins.</a:t>
            </a:r>
          </a:p>
          <a:p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these algorithms into unified python and R software packages.</a:t>
            </a:r>
          </a:p>
          <a:p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these algorithms into a unified web-based system (STARS).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E1FAE2-D8E4-75D0-C90F-55E5D039A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57057-E763-426F-A796-25E54ADBE602}" type="slidenum">
              <a:rPr lang="zh-Hans-HK" altLang="en-US" smtClean="0"/>
              <a:t>8</a:t>
            </a:fld>
            <a:endParaRPr lang="zh-Hans-HK" altLang="en-US"/>
          </a:p>
        </p:txBody>
      </p:sp>
    </p:spTree>
    <p:extLst>
      <p:ext uri="{BB962C8B-B14F-4D97-AF65-F5344CB8AC3E}">
        <p14:creationId xmlns:p14="http://schemas.microsoft.com/office/powerpoint/2010/main" val="3589796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481</TotalTime>
  <Words>303</Words>
  <Application>Microsoft Office PowerPoint</Application>
  <PresentationFormat>Widescreen</PresentationFormat>
  <Paragraphs>68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等线</vt:lpstr>
      <vt:lpstr>Aptos</vt:lpstr>
      <vt:lpstr>Aptos Display</vt:lpstr>
      <vt:lpstr>Arial</vt:lpstr>
      <vt:lpstr>Cambria Math</vt:lpstr>
      <vt:lpstr>Times New Roman</vt:lpstr>
      <vt:lpstr>Office Theme</vt:lpstr>
      <vt:lpstr>Large-scale Geospatial Analytics:  Fast Method and Software Development</vt:lpstr>
      <vt:lpstr>What is Geospatial Analytics?</vt:lpstr>
      <vt:lpstr>Contemporary GIS Software Packages</vt:lpstr>
      <vt:lpstr>Weakness of Geospatial Analytics</vt:lpstr>
      <vt:lpstr>Weakness of Geospatial Analytics</vt:lpstr>
      <vt:lpstr>Our Solutions</vt:lpstr>
      <vt:lpstr>Our Software Packages</vt:lpstr>
      <vt:lpstr>Future Work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Tsz Nam Chan</dc:creator>
  <cp:lastModifiedBy>Tsz Nam Chan</cp:lastModifiedBy>
  <cp:revision>6</cp:revision>
  <dcterms:created xsi:type="dcterms:W3CDTF">2026-10-19T07:13:28Z</dcterms:created>
  <dcterms:modified xsi:type="dcterms:W3CDTF">2026-10-20T15:19:56Z</dcterms:modified>
</cp:coreProperties>
</file>