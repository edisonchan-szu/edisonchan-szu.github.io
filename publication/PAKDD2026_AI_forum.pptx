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316" r:id="rId9"/>
    <p:sldId id="263" r:id="rId10"/>
    <p:sldId id="317" r:id="rId11"/>
    <p:sldId id="320" r:id="rId12"/>
    <p:sldId id="319" r:id="rId13"/>
    <p:sldId id="321" r:id="rId14"/>
    <p:sldId id="282" r:id="rId15"/>
  </p:sldIdLst>
  <p:sldSz cx="12192000" cy="6858000"/>
  <p:notesSz cx="6858000" cy="9144000"/>
  <p:defaultTextStyle>
    <a:defPPr>
      <a:defRPr lang="zh-Hans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C175FD-4A73-4FC7-A3B8-B7B5DB992424}" v="2" dt="2026-06-08T15:00:32.939"/>
    <p1510:client id="{D3F187A2-46EC-4E26-B22E-4E263A09E9EA}" v="5" dt="2026-06-08T14:49:19.1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158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z Nam Chan" userId="d72bc0ce159372cc" providerId="LiveId" clId="{7EA772CB-F43F-45EA-8D4F-488304E9E5E6}"/>
    <pc:docChg chg="modSld">
      <pc:chgData name="Tsz Nam Chan" userId="d72bc0ce159372cc" providerId="LiveId" clId="{7EA772CB-F43F-45EA-8D4F-488304E9E5E6}" dt="2026-06-08T15:01:39.522" v="75" actId="20577"/>
      <pc:docMkLst>
        <pc:docMk/>
      </pc:docMkLst>
      <pc:sldChg chg="modSp mod">
        <pc:chgData name="Tsz Nam Chan" userId="d72bc0ce159372cc" providerId="LiveId" clId="{7EA772CB-F43F-45EA-8D4F-488304E9E5E6}" dt="2026-06-06T10:01:55.221" v="7" actId="20577"/>
        <pc:sldMkLst>
          <pc:docMk/>
          <pc:sldMk cId="1760263525" sldId="258"/>
        </pc:sldMkLst>
        <pc:spChg chg="mod">
          <ac:chgData name="Tsz Nam Chan" userId="d72bc0ce159372cc" providerId="LiveId" clId="{7EA772CB-F43F-45EA-8D4F-488304E9E5E6}" dt="2026-06-06T10:01:55.221" v="7" actId="20577"/>
          <ac:spMkLst>
            <pc:docMk/>
            <pc:sldMk cId="1760263525" sldId="258"/>
            <ac:spMk id="3" creationId="{98F2C3F1-ED2A-4EB1-568F-3F984D4DF7A0}"/>
          </ac:spMkLst>
        </pc:spChg>
      </pc:sldChg>
      <pc:sldChg chg="addSp modSp mod">
        <pc:chgData name="Tsz Nam Chan" userId="d72bc0ce159372cc" providerId="LiveId" clId="{7EA772CB-F43F-45EA-8D4F-488304E9E5E6}" dt="2026-06-08T15:01:39.522" v="75" actId="20577"/>
        <pc:sldMkLst>
          <pc:docMk/>
          <pc:sldMk cId="2252278989" sldId="263"/>
        </pc:sldMkLst>
        <pc:spChg chg="mod">
          <ac:chgData name="Tsz Nam Chan" userId="d72bc0ce159372cc" providerId="LiveId" clId="{7EA772CB-F43F-45EA-8D4F-488304E9E5E6}" dt="2026-06-08T14:46:32.107" v="12" actId="20577"/>
          <ac:spMkLst>
            <pc:docMk/>
            <pc:sldMk cId="2252278989" sldId="263"/>
            <ac:spMk id="3" creationId="{01B8AD9E-EFD1-D615-C2C7-DD3B28751642}"/>
          </ac:spMkLst>
        </pc:spChg>
        <pc:spChg chg="mod">
          <ac:chgData name="Tsz Nam Chan" userId="d72bc0ce159372cc" providerId="LiveId" clId="{7EA772CB-F43F-45EA-8D4F-488304E9E5E6}" dt="2026-06-08T14:49:30.841" v="37" actId="1076"/>
          <ac:spMkLst>
            <pc:docMk/>
            <pc:sldMk cId="2252278989" sldId="263"/>
            <ac:spMk id="7" creationId="{D885DD16-A961-49FA-66D5-AC591210494F}"/>
          </ac:spMkLst>
        </pc:spChg>
        <pc:spChg chg="add mod">
          <ac:chgData name="Tsz Nam Chan" userId="d72bc0ce159372cc" providerId="LiveId" clId="{7EA772CB-F43F-45EA-8D4F-488304E9E5E6}" dt="2026-06-08T15:01:39.522" v="75" actId="20577"/>
          <ac:spMkLst>
            <pc:docMk/>
            <pc:sldMk cId="2252278989" sldId="263"/>
            <ac:spMk id="8" creationId="{704B36DB-8E57-5FBB-1905-DDDA52FA949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ans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3C91AF-9F28-49A2-BFC3-7675F98BA614}" type="datetimeFigureOut">
              <a:rPr lang="zh-Hans-HK" altLang="en-US" smtClean="0"/>
              <a:t>8/6/2026</a:t>
            </a:fld>
            <a:endParaRPr lang="zh-Hans-HK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ans-HK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ans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A6D60-A7B7-4558-824B-B8BBB5EB8A7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665370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C011-646E-56B0-2331-44CB96CA2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DC6B54-6419-F979-5893-D0FE8CE10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Hans-HK"/>
              <a:t>Click to edit Master subtitle style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63F14-7BAF-4854-3722-F76B940B8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C794-3470-48E0-B0C6-264A2FA0D963}" type="datetime1">
              <a:rPr lang="zh-Hans-HK" altLang="en-US" smtClean="0"/>
              <a:t>8/6/2026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BEEAE-170B-0584-0EBF-D32A75F81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7A8A1-6FE6-93FF-2352-0D9DE4F5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B968-6BF4-4B10-B432-99F132BD1FFD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698527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9155E-1733-4C02-95C7-D55930A0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45888-440F-0A8F-7FAA-99AF3EE42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CE014-82A1-6ADC-AC73-F4405301F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4515F-5DD3-4FBE-B6FB-AB66A13EFFF7}" type="datetime1">
              <a:rPr lang="zh-Hans-HK" altLang="en-US" smtClean="0"/>
              <a:t>8/6/2026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E99B-EDD1-0236-782C-17E1F38D2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43B16-E8C8-0F98-8EBF-A1970AB88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B968-6BF4-4B10-B432-99F132BD1FFD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00468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1A448-A511-5036-035D-DDA47A3D9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1E4BF-596E-C777-9490-0FC090D08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5FB05-FEFC-36A2-2E09-B8089744E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AFC3-5C1F-49A7-B42D-7CD83CC88B82}" type="datetime1">
              <a:rPr lang="zh-Hans-HK" altLang="en-US" smtClean="0"/>
              <a:t>8/6/2026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AA0E6-F862-2946-405A-2812EDD20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9B026-716B-7E48-CBAA-2F33772C1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B968-6BF4-4B10-B432-99F132BD1FFD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68535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C36F2-1266-1664-B4DC-392BF5931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B3355-4879-EF45-4234-CDF0B0D64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86944-E5D7-C429-61EB-9F28C6745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51DB3-B423-EA80-E740-38F60D9C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3002-E7A5-4054-9722-F255E20ED5EA}" type="datetime1">
              <a:rPr lang="zh-Hans-HK" altLang="en-US" smtClean="0"/>
              <a:t>8/6/2026</a:t>
            </a:fld>
            <a:endParaRPr lang="zh-Hans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D9BEE-D8DC-DDDB-77DD-257B9C92D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A6973-9FBE-BC81-F0CC-CAC76616D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B968-6BF4-4B10-B432-99F132BD1FFD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713832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953E8-3713-F1D9-0C5F-35DE6A0BD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D4C46-052E-3A78-1E00-6C3BA972F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2B07B-6B59-D1A0-D475-5A41DD165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822470-E3FD-4ADA-91E6-5F81E6A33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D7F62B-FC35-162A-C23F-9D80BD546A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2B00DF-E0C8-1E00-9E2D-C0A7719C6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AC1D1-D94A-4568-91D0-707D26886006}" type="datetime1">
              <a:rPr lang="zh-Hans-HK" altLang="en-US" smtClean="0"/>
              <a:t>8/6/2026</a:t>
            </a:fld>
            <a:endParaRPr lang="zh-Hans-HK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C5C7E-E750-1145-49EE-5294508D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680DF7-6BE9-27CD-9928-3640959D8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B968-6BF4-4B10-B432-99F132BD1FFD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887327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F8079-CE51-8EC9-A079-0F9BB532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292B3C-A895-8A30-2A60-2D7319F5C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8B88D-7EAA-4DAA-BD0A-E2FF1BA57DA8}" type="datetime1">
              <a:rPr lang="zh-Hans-HK" altLang="en-US" smtClean="0"/>
              <a:t>8/6/2026</a:t>
            </a:fld>
            <a:endParaRPr lang="zh-Hans-HK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A4594-F03F-51CC-53C9-2D247A235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FA9855-A9D9-67CB-700B-F08B76AD1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B968-6BF4-4B10-B432-99F132BD1FFD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511037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85E98F-FC73-5C17-1691-D3CB5191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85CD-36B8-4314-A904-3875D306522F}" type="datetime1">
              <a:rPr lang="zh-Hans-HK" altLang="en-US" smtClean="0"/>
              <a:t>8/6/2026</a:t>
            </a:fld>
            <a:endParaRPr lang="zh-Hans-HK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A2F93D-801A-5E0B-498F-CF48654CD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6D807-8D22-BBDA-6F2E-FE4D060D6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B968-6BF4-4B10-B432-99F132BD1FFD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789626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BD80E-2316-B5F6-0248-BB18768BF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340D8-8043-C0B5-F82E-E53FD7832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CCFF1-E8D2-9A68-6288-0B7715AF7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510BA-93C1-BB5D-92E5-D3F699476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093B5-DDA2-43E8-A9C8-854E2431F026}" type="datetime1">
              <a:rPr lang="zh-Hans-HK" altLang="en-US" smtClean="0"/>
              <a:t>8/6/2026</a:t>
            </a:fld>
            <a:endParaRPr lang="zh-Hans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0CD11-0CF0-2259-DA63-BB70FA4A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6402B-A970-7752-61F9-F81465ADD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B968-6BF4-4B10-B432-99F132BD1FFD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4291578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9C863-6309-05AA-6DE0-384A46326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B55EB-346B-3DAD-5971-63228DACD9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ans-HK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1AE6C-D80B-872B-ECBF-C822C6F82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DF010-1CE2-4276-3695-DFD0D4F96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35A93-BAA5-4063-B221-8A076676CB68}" type="datetime1">
              <a:rPr lang="zh-Hans-HK" altLang="en-US" smtClean="0"/>
              <a:t>8/6/2026</a:t>
            </a:fld>
            <a:endParaRPr lang="zh-Hans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5E5CE-AD7D-1919-707D-BD578413E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0A279-1070-0CD0-8866-657E0FEA6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B968-6BF4-4B10-B432-99F132BD1FFD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934237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FFD6-1ECF-300E-93CC-8C4AD16EB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1E2AB-6480-BDEF-4646-9EBB6939A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7B03F-1B19-01E7-C3DD-50642A761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C50F4-7E13-47EC-B2D2-1638E2E43CF8}" type="datetime1">
              <a:rPr lang="zh-Hans-HK" altLang="en-US" smtClean="0"/>
              <a:t>8/6/2026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C90F9-E3F2-62CB-7E40-470F7728D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29E52-498F-1E25-9148-CF07866F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B968-6BF4-4B10-B432-99F132BD1FFD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994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BEAF34-D705-8048-53B9-CE48A6DDEA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5C23B3-DCDC-9574-EDE6-7340F1AEE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2A627-B4E9-27AA-9447-FEC88483E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E3D6D-77D1-4039-B981-8F2B223096F5}" type="datetime1">
              <a:rPr lang="zh-Hans-HK" altLang="en-US" smtClean="0"/>
              <a:t>8/6/2026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A3B05-E507-E110-0F68-A391B17F5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CD5B9-2B63-ACF1-AD60-7565B5644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B968-6BF4-4B10-B432-99F132BD1FFD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452156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47EBF5-4531-300D-026D-22A613329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3D625-D1A1-6138-9CD2-8E3474714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64D11-4D7F-3CB8-D9DD-C71ED53777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4C9CAF-7C78-4DCA-888D-9FD268ECC897}" type="datetime1">
              <a:rPr lang="zh-Hans-HK" altLang="en-US" smtClean="0"/>
              <a:t>8/6/2026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F14EB-0698-2EEB-5B8A-6E7796BB9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AA196-CD04-EA58-6F8D-C609B2820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7DB968-6BF4-4B10-B432-99F132BD1FFD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560147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ans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47.107.252.103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book/10.1007/978-981-95-4850-7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A8154-3F8C-8BE9-9E37-173928E8D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212" y="2472509"/>
            <a:ext cx="11816366" cy="1436464"/>
          </a:xfrm>
        </p:spPr>
        <p:txBody>
          <a:bodyPr>
            <a:normAutofit/>
          </a:bodyPr>
          <a:lstStyle/>
          <a:p>
            <a:r>
              <a:rPr lang="en-US" altLang="zh-Hans-HK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Complexity-Reduced Algorithms and Software Packages for Spatiotemporal Analysis</a:t>
            </a:r>
            <a:endParaRPr lang="zh-Hans-HK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2388D5-FDDC-DB73-B739-F19A9C4BB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856" y="36817"/>
            <a:ext cx="1428949" cy="142894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04E56AC-1FDD-945D-CBC2-D83FBE36FA32}"/>
              </a:ext>
            </a:extLst>
          </p:cNvPr>
          <p:cNvSpPr txBox="1">
            <a:spLocks/>
          </p:cNvSpPr>
          <p:nvPr/>
        </p:nvSpPr>
        <p:spPr>
          <a:xfrm>
            <a:off x="375634" y="4178167"/>
            <a:ext cx="11816366" cy="14364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Hans-HK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29B501C-E43A-7698-5D80-030BDC545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3860" y="4412927"/>
            <a:ext cx="4443390" cy="966943"/>
          </a:xfrm>
        </p:spPr>
        <p:txBody>
          <a:bodyPr>
            <a:normAutofit lnSpcReduction="10000"/>
          </a:bodyPr>
          <a:lstStyle/>
          <a:p>
            <a:r>
              <a:rPr lang="en-US" altLang="zh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(Edison) Tsz Nam Chan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Shenzhen University</a:t>
            </a:r>
          </a:p>
        </p:txBody>
      </p:sp>
      <p:pic>
        <p:nvPicPr>
          <p:cNvPr id="7" name="Picture 6" descr="PAKDD 2026 Logo">
            <a:extLst>
              <a:ext uri="{FF2B5EF4-FFF2-40B4-BE49-F238E27FC236}">
                <a16:creationId xmlns:a16="http://schemas.microsoft.com/office/drawing/2014/main" id="{10235407-F65C-D44E-D264-01A5F9CE4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07034" cy="170703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D12CCA-B77F-E677-B199-8D2D26812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B968-6BF4-4B10-B432-99F132BD1FFD}" type="slidenum">
              <a:rPr lang="zh-Hans-HK" altLang="en-US" smtClean="0"/>
              <a:t>1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4254071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6B10-5BC1-4388-9ED1-7FDD666D8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188"/>
            <a:ext cx="10515600" cy="1325563"/>
          </a:xfrm>
        </p:spPr>
        <p:txBody>
          <a:bodyPr/>
          <a:lstStyle/>
          <a:p>
            <a:pPr algn="ctr"/>
            <a:r>
              <a:rPr lang="en-US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Spatiotemporal Analysis?</a:t>
            </a:r>
            <a:endParaRPr lang="zh-Hans-HK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B4F47E-C46E-4E66-349D-C1B53BA26548}"/>
              </a:ext>
            </a:extLst>
          </p:cNvPr>
          <p:cNvSpPr txBox="1"/>
          <p:nvPr/>
        </p:nvSpPr>
        <p:spPr>
          <a:xfrm>
            <a:off x="713291" y="3238426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interpolation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98BC97-9C0A-8E82-E364-DB8C96567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15" y="1358011"/>
            <a:ext cx="2324424" cy="1819529"/>
          </a:xfrm>
          <a:prstGeom prst="rect">
            <a:avLst/>
          </a:prstGeom>
        </p:spPr>
      </p:pic>
      <p:pic>
        <p:nvPicPr>
          <p:cNvPr id="8" name="Picture 49">
            <a:extLst>
              <a:ext uri="{FF2B5EF4-FFF2-40B4-BE49-F238E27FC236}">
                <a16:creationId xmlns:a16="http://schemas.microsoft.com/office/drawing/2014/main" id="{DF7294A0-A638-D609-6E12-A5E9EFBFF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8079" y="1405081"/>
            <a:ext cx="2013728" cy="1726963"/>
          </a:xfrm>
          <a:prstGeom prst="rect">
            <a:avLst/>
          </a:prstGeom>
        </p:spPr>
      </p:pic>
      <p:sp>
        <p:nvSpPr>
          <p:cNvPr id="9" name="TextBox 50">
            <a:extLst>
              <a:ext uri="{FF2B5EF4-FFF2-40B4-BE49-F238E27FC236}">
                <a16:creationId xmlns:a16="http://schemas.microsoft.com/office/drawing/2014/main" id="{9981E9BB-F3DB-C0C5-2135-EA1EC43DF1F8}"/>
              </a:ext>
            </a:extLst>
          </p:cNvPr>
          <p:cNvSpPr txBox="1"/>
          <p:nvPr/>
        </p:nvSpPr>
        <p:spPr>
          <a:xfrm>
            <a:off x="5832250" y="3230731"/>
            <a:ext cx="339868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hotspot detection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9">
            <a:extLst>
              <a:ext uri="{FF2B5EF4-FFF2-40B4-BE49-F238E27FC236}">
                <a16:creationId xmlns:a16="http://schemas.microsoft.com/office/drawing/2014/main" id="{72485232-6B27-3D1F-FA73-6FB1B4B7BF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175" y="1405081"/>
            <a:ext cx="1867419" cy="1721590"/>
          </a:xfrm>
          <a:prstGeom prst="rect">
            <a:avLst/>
          </a:prstGeom>
        </p:spPr>
      </p:pic>
      <p:pic>
        <p:nvPicPr>
          <p:cNvPr id="11" name="Picture 100">
            <a:extLst>
              <a:ext uri="{FF2B5EF4-FFF2-40B4-BE49-F238E27FC236}">
                <a16:creationId xmlns:a16="http://schemas.microsoft.com/office/drawing/2014/main" id="{987E0758-381D-6154-861E-E998530AF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4157" y="1405081"/>
            <a:ext cx="1867419" cy="1720801"/>
          </a:xfrm>
          <a:prstGeom prst="rect">
            <a:avLst/>
          </a:prstGeom>
        </p:spPr>
      </p:pic>
      <p:pic>
        <p:nvPicPr>
          <p:cNvPr id="12" name="Picture 101">
            <a:extLst>
              <a:ext uri="{FF2B5EF4-FFF2-40B4-BE49-F238E27FC236}">
                <a16:creationId xmlns:a16="http://schemas.microsoft.com/office/drawing/2014/main" id="{A641A4D8-BD1C-D7EE-7937-1877B28B7A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179" y="1405081"/>
            <a:ext cx="1866563" cy="1720801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E9D663B-659A-6599-A12D-F25326851D29}"/>
              </a:ext>
            </a:extLst>
          </p:cNvPr>
          <p:cNvCxnSpPr/>
          <p:nvPr/>
        </p:nvCxnSpPr>
        <p:spPr>
          <a:xfrm>
            <a:off x="5655571" y="3207590"/>
            <a:ext cx="590711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50">
            <a:extLst>
              <a:ext uri="{FF2B5EF4-FFF2-40B4-BE49-F238E27FC236}">
                <a16:creationId xmlns:a16="http://schemas.microsoft.com/office/drawing/2014/main" id="{7A42AADA-3A72-BCF3-82D1-BA61264EA620}"/>
              </a:ext>
            </a:extLst>
          </p:cNvPr>
          <p:cNvSpPr txBox="1"/>
          <p:nvPr/>
        </p:nvSpPr>
        <p:spPr>
          <a:xfrm>
            <a:off x="11495345" y="2985179"/>
            <a:ext cx="61587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CD0B9F3-815D-1192-57B4-EA1B5F265B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0777" y="3959124"/>
            <a:ext cx="8564880" cy="2236178"/>
          </a:xfrm>
          <a:prstGeom prst="rect">
            <a:avLst/>
          </a:prstGeom>
        </p:spPr>
      </p:pic>
      <p:sp>
        <p:nvSpPr>
          <p:cNvPr id="20" name="TextBox 50">
            <a:extLst>
              <a:ext uri="{FF2B5EF4-FFF2-40B4-BE49-F238E27FC236}">
                <a16:creationId xmlns:a16="http://schemas.microsoft.com/office/drawing/2014/main" id="{845E28A9-A8CB-84E7-EBA2-8C05236A758D}"/>
              </a:ext>
            </a:extLst>
          </p:cNvPr>
          <p:cNvSpPr txBox="1"/>
          <p:nvPr/>
        </p:nvSpPr>
        <p:spPr>
          <a:xfrm>
            <a:off x="6312833" y="6195302"/>
            <a:ext cx="280076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K-function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9DCBC5-E2BB-7658-A0EF-059970EE5210}"/>
              </a:ext>
            </a:extLst>
          </p:cNvPr>
          <p:cNvSpPr txBox="1"/>
          <p:nvPr/>
        </p:nvSpPr>
        <p:spPr>
          <a:xfrm>
            <a:off x="1030628" y="6164748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clustering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1FB69E2-FF3B-1867-13F2-2FF4115E6C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635" y="3811745"/>
            <a:ext cx="2343477" cy="2353003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9C1CE366-3B07-30F5-1B08-EC4581225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B968-6BF4-4B10-B432-99F132BD1FFD}" type="slidenum">
              <a:rPr lang="zh-Hans-HK" altLang="en-US" smtClean="0"/>
              <a:t>2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932577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4F52-79D7-8386-33B4-CDE26FF0A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Spatiotemporal Analysis?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2C3F1-ED2A-4EB1-568F-3F984D4DF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18076"/>
          </a:xfrm>
        </p:spPr>
        <p:txBody>
          <a:bodyPr/>
          <a:lstStyle/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 some meaningful hidden patterns from a location dataset.</a:t>
            </a: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tools for GIS domain experts/users.</a:t>
            </a: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expire in the AI age. </a:t>
            </a:r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explain the results by many deep learning models. </a:t>
            </a:r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</a:t>
            </a:r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explainability with spatiotemporal analysis tools. </a:t>
            </a:r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foundation. AI can assist for choosing the correct tools for analysis.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8825F-9CC3-0955-29A7-B40435122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B968-6BF4-4B10-B432-99F132BD1FFD}" type="slidenum">
              <a:rPr lang="zh-Hans-HK" altLang="en-US" smtClean="0"/>
              <a:t>3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760263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8C33E-DC64-5786-30B9-96E525992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Analysis is Slow!</a:t>
            </a:r>
            <a:endParaRPr lang="zh-Hans-HK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015FDA-A336-A2E6-91CE-3E1E372B33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" y="1690688"/>
                <a:ext cx="12054840" cy="4351338"/>
              </a:xfrm>
            </p:spPr>
            <p:txBody>
              <a:bodyPr/>
              <a:lstStyle/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Many spatiotemporal analysis tools take at least quadratic time complexities.</a:t>
                </a: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(Hotspot detection based on spatiotemporal kernel density visualization)</a:t>
                </a:r>
              </a:p>
              <a:p>
                <a:pPr lvl="1"/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Resolution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=1280×960</m:t>
                    </m:r>
                  </m:oMath>
                </a14:m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Timestamps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=32</m:t>
                    </m:r>
                  </m:oMath>
                </a14:m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data points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=1000000</m:t>
                    </m:r>
                  </m:oMath>
                </a14:m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cost is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𝑌𝑇𝑛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=39.3216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trillion 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</a:t>
                </a:r>
                <a:endParaRPr lang="zh-Hans-HK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015FDA-A336-A2E6-91CE-3E1E372B3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" y="1690688"/>
                <a:ext cx="12054840" cy="4351338"/>
              </a:xfrm>
              <a:blipFill>
                <a:blip r:embed="rId2"/>
                <a:stretch>
                  <a:fillRect l="-910" t="-2381" r="-759"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49">
            <a:extLst>
              <a:ext uri="{FF2B5EF4-FFF2-40B4-BE49-F238E27FC236}">
                <a16:creationId xmlns:a16="http://schemas.microsoft.com/office/drawing/2014/main" id="{A6B00CC2-D04A-9436-F2DA-A8B6A65CA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639" y="4893181"/>
            <a:ext cx="2013728" cy="1726963"/>
          </a:xfrm>
          <a:prstGeom prst="rect">
            <a:avLst/>
          </a:prstGeom>
        </p:spPr>
      </p:pic>
      <p:pic>
        <p:nvPicPr>
          <p:cNvPr id="10" name="Picture 99">
            <a:extLst>
              <a:ext uri="{FF2B5EF4-FFF2-40B4-BE49-F238E27FC236}">
                <a16:creationId xmlns:a16="http://schemas.microsoft.com/office/drawing/2014/main" id="{6BD0D84E-B07D-6088-B9A8-7C8A6078FA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735" y="4893181"/>
            <a:ext cx="1867419" cy="1721590"/>
          </a:xfrm>
          <a:prstGeom prst="rect">
            <a:avLst/>
          </a:prstGeom>
        </p:spPr>
      </p:pic>
      <p:pic>
        <p:nvPicPr>
          <p:cNvPr id="11" name="Picture 100">
            <a:extLst>
              <a:ext uri="{FF2B5EF4-FFF2-40B4-BE49-F238E27FC236}">
                <a16:creationId xmlns:a16="http://schemas.microsoft.com/office/drawing/2014/main" id="{1471D5C1-1BC6-E5EF-5A7E-66B27B4CD3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717" y="4893181"/>
            <a:ext cx="1867419" cy="1720801"/>
          </a:xfrm>
          <a:prstGeom prst="rect">
            <a:avLst/>
          </a:prstGeom>
        </p:spPr>
      </p:pic>
      <p:pic>
        <p:nvPicPr>
          <p:cNvPr id="12" name="Picture 101">
            <a:extLst>
              <a:ext uri="{FF2B5EF4-FFF2-40B4-BE49-F238E27FC236}">
                <a16:creationId xmlns:a16="http://schemas.microsoft.com/office/drawing/2014/main" id="{3F5742DB-C606-7EDB-97FB-0188F377B4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9739" y="4893181"/>
            <a:ext cx="1866563" cy="172080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790900F-7FB4-C9BA-A6DC-F940F085C751}"/>
              </a:ext>
            </a:extLst>
          </p:cNvPr>
          <p:cNvCxnSpPr/>
          <p:nvPr/>
        </p:nvCxnSpPr>
        <p:spPr>
          <a:xfrm>
            <a:off x="4040131" y="6695690"/>
            <a:ext cx="590711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50">
            <a:extLst>
              <a:ext uri="{FF2B5EF4-FFF2-40B4-BE49-F238E27FC236}">
                <a16:creationId xmlns:a16="http://schemas.microsoft.com/office/drawing/2014/main" id="{B812C2F0-7D09-8AB3-F93C-7C61B3BE2551}"/>
              </a:ext>
            </a:extLst>
          </p:cNvPr>
          <p:cNvSpPr txBox="1"/>
          <p:nvPr/>
        </p:nvSpPr>
        <p:spPr>
          <a:xfrm>
            <a:off x="9879905" y="6473279"/>
            <a:ext cx="61587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AED2B94-5484-BABF-B4B6-1865B680D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B968-6BF4-4B10-B432-99F132BD1FFD}" type="slidenum">
              <a:rPr lang="zh-Hans-HK" altLang="en-US" smtClean="0"/>
              <a:t>4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350893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94256-BC2D-A28F-5F03-977EC46B5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Analysis is Slow!</a:t>
            </a:r>
            <a:endParaRPr lang="zh-Hans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60698-16A7-2558-9678-A347DB218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1875"/>
          </a:xfrm>
        </p:spPr>
        <p:txBody>
          <a:bodyPr/>
          <a:lstStyle/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software packages are based on naïve solutions.</a:t>
            </a:r>
          </a:p>
          <a:p>
            <a:pPr lvl="1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scalable to million-scale datasets.</a:t>
            </a:r>
          </a:p>
          <a:p>
            <a:pPr lvl="1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feasibly support real-time applications (even for small-scale datasets).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8">
            <a:extLst>
              <a:ext uri="{FF2B5EF4-FFF2-40B4-BE49-F238E27FC236}">
                <a16:creationId xmlns:a16="http://schemas.microsoft.com/office/drawing/2014/main" id="{CDD07106-F9D8-BF44-3ACD-C21F3859D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553" y="4598416"/>
            <a:ext cx="2886988" cy="108693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1002228-134C-4F03-758C-3A695B27E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760" y="3051562"/>
            <a:ext cx="1546860" cy="1546854"/>
          </a:xfrm>
          <a:prstGeom prst="rect">
            <a:avLst/>
          </a:prstGeom>
        </p:spPr>
      </p:pic>
      <p:pic>
        <p:nvPicPr>
          <p:cNvPr id="6" name="圖片 9">
            <a:extLst>
              <a:ext uri="{FF2B5EF4-FFF2-40B4-BE49-F238E27FC236}">
                <a16:creationId xmlns:a16="http://schemas.microsoft.com/office/drawing/2014/main" id="{3021E4D0-7C95-7025-86F4-8C1B651B0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090" y="3296080"/>
            <a:ext cx="3670633" cy="1086934"/>
          </a:xfrm>
          <a:prstGeom prst="rect">
            <a:avLst/>
          </a:prstGeom>
        </p:spPr>
      </p:pic>
      <p:pic>
        <p:nvPicPr>
          <p:cNvPr id="7" name="Picture 6" descr="SuperMap logo">
            <a:extLst>
              <a:ext uri="{FF2B5EF4-FFF2-40B4-BE49-F238E27FC236}">
                <a16:creationId xmlns:a16="http://schemas.microsoft.com/office/drawing/2014/main" id="{2093056F-ED07-7019-C35D-2C10448DF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090" y="4666996"/>
            <a:ext cx="3779568" cy="1086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770C027-5D6A-C111-3D7C-0DB4E925EA59}"/>
              </a:ext>
            </a:extLst>
          </p:cNvPr>
          <p:cNvSpPr/>
          <p:nvPr/>
        </p:nvSpPr>
        <p:spPr>
          <a:xfrm>
            <a:off x="914400" y="5882131"/>
            <a:ext cx="10934699" cy="78536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E033E2-920E-A648-4826-5C5CA98143FA}"/>
              </a:ext>
            </a:extLst>
          </p:cNvPr>
          <p:cNvSpPr txBox="1"/>
          <p:nvPr/>
        </p:nvSpPr>
        <p:spPr>
          <a:xfrm>
            <a:off x="914400" y="6021134"/>
            <a:ext cx="110426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ans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solution and software are needed for each spatiotemporal analysis tool.</a:t>
            </a:r>
            <a:endParaRPr lang="zh-Hans-HK" altLang="en-US" sz="28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74ACFFF-6E6D-38DE-C600-59142A8BD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6254"/>
            <a:ext cx="2743200" cy="365125"/>
          </a:xfrm>
        </p:spPr>
        <p:txBody>
          <a:bodyPr/>
          <a:lstStyle/>
          <a:p>
            <a:fld id="{6F7DB968-6BF4-4B10-B432-99F132BD1FFD}" type="slidenum">
              <a:rPr lang="zh-Hans-HK" altLang="en-US" smtClean="0"/>
              <a:t>5</a:t>
            </a:fld>
            <a:endParaRPr lang="zh-Hans-HK" altLang="en-US" dirty="0"/>
          </a:p>
        </p:txBody>
      </p:sp>
    </p:spTree>
    <p:extLst>
      <p:ext uri="{BB962C8B-B14F-4D97-AF65-F5344CB8AC3E}">
        <p14:creationId xmlns:p14="http://schemas.microsoft.com/office/powerpoint/2010/main" val="3581984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A0FD4-9E50-C84B-3D5B-01DC9FB8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Improve the Efficiency of Spatiotemporal Analysis Tools</a:t>
            </a:r>
            <a:r>
              <a:rPr lang="en-HK" altLang="zh-Hans-HK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?</a:t>
            </a:r>
            <a:endParaRPr lang="zh-Hans-HK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623EC-69AA-D035-28C8-4B93A95C0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473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Formulate each spatiotemporal analysis tool as a query processing (computational) problem.</a:t>
            </a:r>
          </a:p>
          <a:p>
            <a:pPr marL="514350" indent="-514350">
              <a:buFont typeface="+mj-lt"/>
              <a:buAutoNum type="arabicPeriod"/>
            </a:pPr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some mathematical properties of this problem.</a:t>
            </a:r>
          </a:p>
          <a:p>
            <a:pPr marL="514350" indent="-514350">
              <a:buFont typeface="+mj-lt"/>
              <a:buAutoNum type="arabicPeriod"/>
            </a:pPr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data structures and algorithms for this problem and implement them.</a:t>
            </a:r>
          </a:p>
          <a:p>
            <a:pPr marL="514350" indent="-514350">
              <a:buFont typeface="+mj-lt"/>
              <a:buAutoNum type="arabicPeriod"/>
            </a:pPr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the software plugin and the webpage function for these implementations.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C2A78-DABB-A830-0E79-463BC79DB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B968-6BF4-4B10-B432-99F132BD1FFD}" type="slidenum">
              <a:rPr lang="zh-Hans-HK" altLang="en-US" smtClean="0"/>
              <a:t>6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119878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D7D78-BA2F-6FCC-1671-C5ED2040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Kernel Density Visualization (STKDV)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2">
                <a:extLst>
                  <a:ext uri="{FF2B5EF4-FFF2-40B4-BE49-F238E27FC236}">
                    <a16:creationId xmlns:a16="http://schemas.microsoft.com/office/drawing/2014/main" id="{EC15B8E9-A0DF-10E8-4D55-50A724CE95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70784" y="1825625"/>
                <a:ext cx="6408027" cy="4351338"/>
              </a:xfrm>
            </p:spPr>
            <p:txBody>
              <a:bodyPr/>
              <a:lstStyle/>
              <a:p>
                <a:r>
                  <a:rPr lang="en-US" altLang="zh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a location dataset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HK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acc>
                    <m:r>
                      <a:rPr lang="en-US" altLang="zh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HK" b="1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𝐩</m:t>
                                </m:r>
                              </m:e>
                              <m:sub>
                                <m:r>
                                  <a:rPr lang="en-US" altLang="zh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HK" b="1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𝐩</m:t>
                                    </m:r>
                                  </m:e>
                                  <m:sub>
                                    <m:r>
                                      <a:rPr lang="en-US" altLang="zh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  <m:r>
                          <a:rPr lang="en-US" altLang="zh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HK" b="1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𝐩</m:t>
                                </m:r>
                              </m:e>
                              <m:sub>
                                <m:r>
                                  <a:rPr lang="en-US" altLang="zh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HK" b="1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𝐩</m:t>
                                    </m:r>
                                  </m:e>
                                  <m:sub>
                                    <m:r>
                                      <a:rPr lang="en-US" altLang="zh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  <m:r>
                          <a:rPr lang="en-US" altLang="zh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altLang="zh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HK" b="1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𝐩</m:t>
                                </m:r>
                              </m:e>
                              <m:sub>
                                <m:r>
                                  <a:rPr lang="en-US" altLang="zh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HK" b="1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𝐩</m:t>
                                    </m:r>
                                  </m:e>
                                  <m:sub>
                                    <m:r>
                                      <a:rPr lang="en-US" altLang="zh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HK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size </a:t>
                </a:r>
                <a14:m>
                  <m:oMath xmlns:m="http://schemas.openxmlformats.org/officeDocument/2006/math">
                    <m:r>
                      <a:rPr lang="en-US" altLang="zh-HK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zh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Color each pixel </a:t>
                </a:r>
                <a14:m>
                  <m:oMath xmlns:m="http://schemas.openxmlformats.org/officeDocument/2006/math">
                    <m:r>
                      <a:rPr lang="en-US" altLang="zh-HK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𝐪</m:t>
                    </m:r>
                  </m:oMath>
                </a14:m>
                <a:r>
                  <a:rPr lang="en-US" altLang="zh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the timestamp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HK" altLang="zh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based on the spatiotemporal kernel density function</a:t>
                </a:r>
                <a:r>
                  <a:rPr lang="zh-HK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HK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HK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ℱ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HK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H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</m:acc>
                      </m:sub>
                    </m:sSub>
                    <m:r>
                      <a:rPr lang="en-US" altLang="zh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HK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𝐪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HK" altLang="zh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內容版面配置區 2">
                <a:extLst>
                  <a:ext uri="{FF2B5EF4-FFF2-40B4-BE49-F238E27FC236}">
                    <a16:creationId xmlns:a16="http://schemas.microsoft.com/office/drawing/2014/main" id="{EC15B8E9-A0DF-10E8-4D55-50A724CE95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70784" y="1825625"/>
                <a:ext cx="6408027" cy="4351338"/>
              </a:xfrm>
              <a:blipFill>
                <a:blip r:embed="rId2"/>
                <a:stretch>
                  <a:fillRect l="-1711" t="-2101"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99">
            <a:extLst>
              <a:ext uri="{FF2B5EF4-FFF2-40B4-BE49-F238E27FC236}">
                <a16:creationId xmlns:a16="http://schemas.microsoft.com/office/drawing/2014/main" id="{1B02410A-8FF4-6025-3A03-2D1EE8389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2074090" cy="1912122"/>
          </a:xfrm>
          <a:prstGeom prst="rect">
            <a:avLst/>
          </a:prstGeom>
        </p:spPr>
      </p:pic>
      <p:pic>
        <p:nvPicPr>
          <p:cNvPr id="6" name="Picture 100">
            <a:extLst>
              <a:ext uri="{FF2B5EF4-FFF2-40B4-BE49-F238E27FC236}">
                <a16:creationId xmlns:a16="http://schemas.microsoft.com/office/drawing/2014/main" id="{05316722-FA73-898F-889E-482499792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305" y="4067832"/>
            <a:ext cx="2087986" cy="1924050"/>
          </a:xfrm>
          <a:prstGeom prst="rect">
            <a:avLst/>
          </a:prstGeom>
        </p:spPr>
      </p:pic>
      <p:pic>
        <p:nvPicPr>
          <p:cNvPr id="7" name="Picture 101">
            <a:extLst>
              <a:ext uri="{FF2B5EF4-FFF2-40B4-BE49-F238E27FC236}">
                <a16:creationId xmlns:a16="http://schemas.microsoft.com/office/drawing/2014/main" id="{AADBDC94-E80B-C7B8-4AE8-4F56F3A07E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4216" y="4067832"/>
            <a:ext cx="2074090" cy="1912122"/>
          </a:xfrm>
          <a:prstGeom prst="rect">
            <a:avLst/>
          </a:prstGeom>
        </p:spPr>
      </p:pic>
      <p:pic>
        <p:nvPicPr>
          <p:cNvPr id="8" name="Picture 102">
            <a:extLst>
              <a:ext uri="{FF2B5EF4-FFF2-40B4-BE49-F238E27FC236}">
                <a16:creationId xmlns:a16="http://schemas.microsoft.com/office/drawing/2014/main" id="{80531573-EBBA-25AA-C71E-7081B4E53A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4216" y="1825625"/>
            <a:ext cx="2074090" cy="1912122"/>
          </a:xfrm>
          <a:prstGeom prst="rect">
            <a:avLst/>
          </a:prstGeom>
        </p:spPr>
      </p:pic>
      <p:sp>
        <p:nvSpPr>
          <p:cNvPr id="9" name="TextBox 103">
            <a:extLst>
              <a:ext uri="{FF2B5EF4-FFF2-40B4-BE49-F238E27FC236}">
                <a16:creationId xmlns:a16="http://schemas.microsoft.com/office/drawing/2014/main" id="{C215AD2D-99C9-B5A2-0252-3B8479B2463D}"/>
              </a:ext>
            </a:extLst>
          </p:cNvPr>
          <p:cNvSpPr txBox="1"/>
          <p:nvPr/>
        </p:nvSpPr>
        <p:spPr>
          <a:xfrm>
            <a:off x="996623" y="3683111"/>
            <a:ext cx="178826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9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August 2020</a:t>
            </a:r>
          </a:p>
        </p:txBody>
      </p:sp>
      <p:sp>
        <p:nvSpPr>
          <p:cNvPr id="10" name="TextBox 104">
            <a:extLst>
              <a:ext uri="{FF2B5EF4-FFF2-40B4-BE49-F238E27FC236}">
                <a16:creationId xmlns:a16="http://schemas.microsoft.com/office/drawing/2014/main" id="{5BE749D6-DE0E-80C6-6943-64343332525A}"/>
              </a:ext>
            </a:extLst>
          </p:cNvPr>
          <p:cNvSpPr txBox="1"/>
          <p:nvPr/>
        </p:nvSpPr>
        <p:spPr>
          <a:xfrm>
            <a:off x="3107363" y="3683111"/>
            <a:ext cx="2040943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19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December 2020</a:t>
            </a:r>
          </a:p>
        </p:txBody>
      </p:sp>
      <p:sp>
        <p:nvSpPr>
          <p:cNvPr id="11" name="TextBox 105">
            <a:extLst>
              <a:ext uri="{FF2B5EF4-FFF2-40B4-BE49-F238E27FC236}">
                <a16:creationId xmlns:a16="http://schemas.microsoft.com/office/drawing/2014/main" id="{134E5820-DB87-F970-DBA6-8FEEBBB2B6D0}"/>
              </a:ext>
            </a:extLst>
          </p:cNvPr>
          <p:cNvSpPr txBox="1"/>
          <p:nvPr/>
        </p:nvSpPr>
        <p:spPr>
          <a:xfrm>
            <a:off x="899290" y="5925318"/>
            <a:ext cx="204414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19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February 2021</a:t>
            </a:r>
          </a:p>
        </p:txBody>
      </p:sp>
      <p:sp>
        <p:nvSpPr>
          <p:cNvPr id="12" name="TextBox 106">
            <a:extLst>
              <a:ext uri="{FF2B5EF4-FFF2-40B4-BE49-F238E27FC236}">
                <a16:creationId xmlns:a16="http://schemas.microsoft.com/office/drawing/2014/main" id="{B027A5BC-9ED6-0E34-9574-1B2D34B13D6D}"/>
              </a:ext>
            </a:extLst>
          </p:cNvPr>
          <p:cNvSpPr txBox="1"/>
          <p:nvPr/>
        </p:nvSpPr>
        <p:spPr>
          <a:xfrm>
            <a:off x="3167474" y="5925317"/>
            <a:ext cx="192071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19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January 2022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25">
                <a:extLst>
                  <a:ext uri="{FF2B5EF4-FFF2-40B4-BE49-F238E27FC236}">
                    <a16:creationId xmlns:a16="http://schemas.microsoft.com/office/drawing/2014/main" id="{167E4D8E-E1BA-F6FF-8E85-6AE1D77E54D1}"/>
                  </a:ext>
                </a:extLst>
              </p:cNvPr>
              <p:cNvSpPr/>
              <p:nvPr/>
            </p:nvSpPr>
            <p:spPr>
              <a:xfrm>
                <a:off x="5658839" y="5097333"/>
                <a:ext cx="6029471" cy="10203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HK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HK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ℱ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altLang="zh-HK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HK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US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HK" sz="2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𝐪</m:t>
                          </m:r>
                          <m:r>
                            <a:rPr lang="en-US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HK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K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HK" altLang="zh-HK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HK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altLang="zh-HK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HK" sz="22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𝐩</m:t>
                              </m:r>
                              <m:r>
                                <a:rPr lang="en-US" altLang="zh-HK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HK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HK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a:rPr lang="en-US" altLang="zh-HK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HK" sz="22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𝐩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brk m:alnAt="7"/>
                            </m:rPr>
                            <a:rPr lang="en-US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acc>
                            <m:accPr>
                              <m:chr m:val="̂"/>
                              <m:ctrlPr>
                                <a:rPr lang="en-US" altLang="zh-HK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HK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</m:acc>
                        </m:sub>
                        <m:sup/>
                        <m:e>
                          <m:r>
                            <a:rPr lang="en-US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zh-HK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e>
                      </m:nary>
                      <m:sSubSup>
                        <m:sSubSupPr>
                          <m:ctrlPr>
                            <a:rPr lang="en-US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HK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HK" altLang="zh-HK" sz="2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space</m:t>
                          </m:r>
                        </m:sub>
                        <m:sup>
                          <m:r>
                            <a:rPr lang="en-HK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HK" altLang="zh-HK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HK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HK" altLang="en-HK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  <m:r>
                            <a:rPr lang="en-HK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HK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HK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𝐪</m:t>
                      </m:r>
                      <m:r>
                        <a:rPr lang="en-US" altLang="zh-HK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HK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𝐩</m:t>
                      </m:r>
                      <m:r>
                        <a:rPr lang="en-US" altLang="zh-HK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HK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altLang="zh-HK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HK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HK" altLang="zh-HK" sz="2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time</m:t>
                          </m:r>
                        </m:sub>
                        <m:sup>
                          <m:r>
                            <a:rPr lang="en-HK" altLang="zh-HK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HK" altLang="zh-HK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HK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HK" altLang="en-HK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  <m:r>
                            <a:rPr lang="en-HK" altLang="zh-HK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HK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HK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HK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HK" altLang="zh-HK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HK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HK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HK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HK" sz="2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𝐩</m:t>
                          </m:r>
                        </m:sub>
                      </m:sSub>
                      <m:r>
                        <a:rPr lang="en-US" altLang="zh-HK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HK" altLang="en-US" sz="2200" dirty="0"/>
              </a:p>
            </p:txBody>
          </p:sp>
        </mc:Choice>
        <mc:Fallback xmlns="">
          <p:sp>
            <p:nvSpPr>
              <p:cNvPr id="13" name="矩形 25">
                <a:extLst>
                  <a:ext uri="{FF2B5EF4-FFF2-40B4-BE49-F238E27FC236}">
                    <a16:creationId xmlns:a16="http://schemas.microsoft.com/office/drawing/2014/main" id="{167E4D8E-E1BA-F6FF-8E85-6AE1D77E54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839" y="5097333"/>
                <a:ext cx="6029471" cy="10203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850407E-E846-E383-2898-F7361396E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B968-6BF4-4B10-B432-99F132BD1FFD}" type="slidenum">
              <a:rPr lang="zh-Hans-HK" altLang="en-US" smtClean="0"/>
              <a:t>7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536375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16D7EB-2C4B-4F06-8411-F39AE45AA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Kernel Density Visualization (STKDV)</a:t>
            </a:r>
            <a:endParaRPr lang="zh-HK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D9F4062-8EEE-401B-851B-5DB1635D8E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Some representative spatial and temporal kernel functions that are used in the spatiotemporal kernel density function</a:t>
                </a:r>
                <a:r>
                  <a:rPr lang="zh-HK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HK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HK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ℱ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HK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H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</m:acc>
                      </m:sub>
                    </m:sSub>
                    <m:r>
                      <a:rPr lang="en-US" altLang="zh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HK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𝐪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HK" altLang="zh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HK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D9F4062-8EEE-401B-851B-5DB1635D8E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A193E2E-58E0-4A38-98BB-D9AE713DAD44}"/>
                  </a:ext>
                </a:extLst>
              </p:cNvPr>
              <p:cNvSpPr/>
              <p:nvPr/>
            </p:nvSpPr>
            <p:spPr>
              <a:xfrm>
                <a:off x="2885345" y="2698745"/>
                <a:ext cx="6142451" cy="10203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HK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HK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ℱ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altLang="zh-HK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HK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US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HK" sz="2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𝐪</m:t>
                          </m:r>
                          <m:r>
                            <a:rPr lang="en-US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HK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K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HK" altLang="zh-HK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HK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altLang="zh-HK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HK" sz="22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𝐩</m:t>
                              </m:r>
                              <m:r>
                                <a:rPr lang="en-US" altLang="zh-HK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HK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HK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a:rPr lang="en-US" altLang="zh-HK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HK" sz="22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𝐩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brk m:alnAt="7"/>
                            </m:rPr>
                            <a:rPr lang="en-US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acc>
                            <m:accPr>
                              <m:chr m:val="̂"/>
                              <m:ctrlPr>
                                <a:rPr lang="en-US" altLang="zh-HK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HK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</m:acc>
                        </m:sub>
                        <m:sup/>
                        <m:e>
                          <m:r>
                            <a:rPr lang="en-US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zh-HK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Sup>
                            <m:sSubSupPr>
                              <m:ctrlPr>
                                <a:rPr lang="en-US" altLang="zh-HK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HK" altLang="zh-HK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HK" altLang="zh-HK" sz="2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space</m:t>
                              </m:r>
                            </m:sub>
                            <m:sup>
                              <m:r>
                                <a:rPr lang="en-HK" altLang="zh-HK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HK" altLang="zh-HK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HK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HK" altLang="en-HK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sub>
                              </m:sSub>
                              <m:r>
                                <a:rPr lang="en-HK" altLang="zh-HK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HK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HK" sz="2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𝐪</m:t>
                          </m:r>
                          <m:r>
                            <a:rPr lang="en-US" altLang="zh-HK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HK" sz="2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𝐩</m:t>
                          </m:r>
                          <m:r>
                            <a:rPr lang="en-US" altLang="zh-HK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altLang="zh-HK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Sup>
                            <m:sSubSupPr>
                              <m:ctrlPr>
                                <a:rPr lang="en-US" altLang="zh-HK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HK" altLang="zh-HK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HK" altLang="zh-HK" sz="2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time</m:t>
                              </m:r>
                            </m:sub>
                            <m:sup>
                              <m:r>
                                <a:rPr lang="en-HK" altLang="zh-HK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HK" altLang="zh-HK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HK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HK" altLang="en-HK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  <m:r>
                                <a:rPr lang="en-HK" altLang="zh-HK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HK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HK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K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HK" altLang="zh-HK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HK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HK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K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HK" sz="22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𝐩</m:t>
                              </m:r>
                            </m:sub>
                          </m:sSub>
                          <m:r>
                            <a:rPr lang="en-US" altLang="zh-HK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HK" altLang="en-US" sz="2200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A193E2E-58E0-4A38-98BB-D9AE713DAD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345" y="2698745"/>
                <a:ext cx="6142451" cy="10203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B33C539-DC48-3709-6A29-37A92D731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809" y="3899571"/>
            <a:ext cx="9110382" cy="20969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05F27-9C38-817F-51A3-CDD4B782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F02A9-5B69-43F2-A623-9ECD00EE50B7}" type="slidenum">
              <a:rPr lang="zh-Hans-HK" altLang="en-US" smtClean="0"/>
              <a:t>8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586849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DE3F5-36A0-5820-40A5-9C717C24B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Kernel Density Visualization (STKDV)</a:t>
            </a:r>
            <a:endParaRPr lang="zh-Hans-HK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B8AD9E-EFD1-D615-C2C7-DD3B287516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7680" y="1909445"/>
                <a:ext cx="5402580" cy="4351338"/>
              </a:xfrm>
            </p:spPr>
            <p:txBody>
              <a:bodyPr/>
              <a:lstStyle/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Decompose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HK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HK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ℱ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H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H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</m:acc>
                      </m:sub>
                    </m:sSub>
                    <m:d>
                      <m:dPr>
                        <m:ctrlPr>
                          <a:rPr lang="en-US" altLang="zh-HK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HK" b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𝐪</m:t>
                        </m:r>
                        <m:r>
                          <a:rPr lang="en-US" altLang="zh-HK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HK" altLang="zh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Hans-HK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based on linear algebra operations, which represents it based 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HK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HK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HK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  <m:d>
                          <m:dPr>
                            <m:ctrlPr>
                              <a:rPr lang="en-HK" altLang="zh-H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HK" altLang="zh-H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H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HK" altLang="zh-H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sub>
                      <m:sup>
                        <m:d>
                          <m:dPr>
                            <m:ctrlPr>
                              <a:rPr lang="en-HK" altLang="zh-H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HK" altLang="zh-H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en-HK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HK" altLang="zh-HK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𝐪</m:t>
                        </m:r>
                      </m:e>
                    </m:d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</a:t>
                </a: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time complexity is reduced to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𝑋𝑌𝑇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𝑌𝑛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</a:t>
                </a:r>
                <a:endParaRPr lang="zh-Hans-HK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Hans-HK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B8AD9E-EFD1-D615-C2C7-DD3B287516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7680" y="1909445"/>
                <a:ext cx="5402580" cy="4351338"/>
              </a:xfrm>
              <a:blipFill>
                <a:blip r:embed="rId2"/>
                <a:stretch>
                  <a:fillRect l="-2032" t="-2381" r="-1580" b="-700"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B845CB9-D2C4-955D-48B5-3F7686FA3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757045"/>
            <a:ext cx="6053685" cy="37207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A90729-CFAA-D725-8B29-059E35E38C72}"/>
                  </a:ext>
                </a:extLst>
              </p:cNvPr>
              <p:cNvSpPr txBox="1"/>
              <p:nvPr/>
            </p:nvSpPr>
            <p:spPr>
              <a:xfrm>
                <a:off x="838200" y="3617436"/>
                <a:ext cx="4892040" cy="9912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HK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HK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HK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  <m:d>
                            <m:dPr>
                              <m:ctrlPr>
                                <a:rPr lang="en-HK" altLang="zh-HK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HK" altLang="zh-HK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HK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HK" altLang="zh-HK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sub>
                        <m:sup>
                          <m:d>
                            <m:dPr>
                              <m:ctrlPr>
                                <a:rPr lang="en-HK" altLang="zh-HK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HK" altLang="zh-HK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HK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HK" altLang="zh-HK" sz="2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𝐪</m:t>
                          </m:r>
                        </m:e>
                      </m:d>
                      <m:r>
                        <a:rPr lang="en-HK" altLang="zh-HK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HK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HK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lang="en-HK" altLang="zh-HK" sz="2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𝐩</m:t>
                          </m:r>
                          <m:r>
                            <m:rPr>
                              <m:brk m:alnAt="7"/>
                            </m:rPr>
                            <a:rPr lang="en-HK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HK" altLang="zh-HK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HK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HK" altLang="zh-HK" sz="22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𝐩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HK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HK" altLang="zh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HK" altLang="zh-HK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  <m:d>
                            <m:dPr>
                              <m:ctrlPr>
                                <a:rPr lang="en-HK" altLang="zh-HK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HK" altLang="zh-HK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HK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HK" altLang="zh-HK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sSubSup>
                            <m:sSubSupPr>
                              <m:ctrlPr>
                                <a:rPr lang="en-HK" altLang="zh-HK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HK" altLang="zh-HK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HK" altLang="zh-HK" sz="22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𝐩</m:t>
                              </m:r>
                            </m:sub>
                            <m:sup>
                              <m:r>
                                <a:rPr lang="en-HK" altLang="zh-HK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HK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HK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HK" altLang="zh-HK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HK" altLang="zh-HK" sz="2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space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HK" altLang="zh-HK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altLang="zh-HK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K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zh-HK" altLang="en-HK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bSup>
                          <m:d>
                            <m:dPr>
                              <m:ctrlPr>
                                <a:rPr lang="en-US" altLang="zh-HK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HK" sz="22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𝐪</m:t>
                              </m:r>
                              <m:r>
                                <a:rPr lang="en-US" altLang="zh-HK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HK" sz="22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𝐩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Hans-HK" alt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A90729-CFAA-D725-8B29-059E35E38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617436"/>
                <a:ext cx="4892040" cy="9912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5DD16-A961-49FA-66D5-AC5912104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1245" y="6587540"/>
            <a:ext cx="2743200" cy="365125"/>
          </a:xfrm>
        </p:spPr>
        <p:txBody>
          <a:bodyPr/>
          <a:lstStyle/>
          <a:p>
            <a:fld id="{6F7DB968-6BF4-4B10-B432-99F132BD1FFD}" type="slidenum">
              <a:rPr lang="zh-Hans-HK" altLang="en-US" smtClean="0"/>
              <a:t>9</a:t>
            </a:fld>
            <a:endParaRPr lang="zh-Hans-HK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B36DB-8E57-5FBB-1905-DDDA52FA9495}"/>
              </a:ext>
            </a:extLst>
          </p:cNvPr>
          <p:cNvSpPr txBox="1"/>
          <p:nvPr/>
        </p:nvSpPr>
        <p:spPr>
          <a:xfrm>
            <a:off x="-55245" y="6230719"/>
            <a:ext cx="12272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ans-HK" sz="1200" dirty="0">
                <a:latin typeface="Times" panose="02020603050405020304" pitchFamily="18" charset="0"/>
                <a:cs typeface="Times New Roman" panose="02020603050405020304" pitchFamily="18" charset="0"/>
              </a:rPr>
              <a:t>[a] </a:t>
            </a:r>
            <a:r>
              <a:rPr lang="zh-Hans-HK" altLang="en-US" sz="1200" dirty="0">
                <a:latin typeface="Times" panose="02020603050405020304" pitchFamily="18" charset="0"/>
                <a:cs typeface="Times New Roman" panose="02020603050405020304" pitchFamily="18" charset="0"/>
              </a:rPr>
              <a:t>Tsz Nam Chan, Pak Lon Ip, Bojian Zhu, Leong Hou U, Dingming Wu, Jianliang Xu, Christian S. Jensen: </a:t>
            </a:r>
            <a:r>
              <a:rPr lang="en-HK" altLang="zh-Hans-HK" sz="1200" dirty="0">
                <a:latin typeface="Times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Hans-HK" altLang="en-US" sz="1200" dirty="0">
                <a:latin typeface="Times" panose="02020603050405020304" pitchFamily="18" charset="0"/>
                <a:cs typeface="Times New Roman" panose="02020603050405020304" pitchFamily="18" charset="0"/>
              </a:rPr>
              <a:t>Large-scale Spatiotemporal Kernel Density Visualization</a:t>
            </a:r>
            <a:r>
              <a:rPr lang="en-HK" altLang="zh-Hans-HK" sz="1200" dirty="0">
                <a:latin typeface="Times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Hans-HK" altLang="en-US" sz="1200" dirty="0">
                <a:latin typeface="Times" panose="02020603050405020304" pitchFamily="18" charset="0"/>
                <a:cs typeface="Times New Roman" panose="02020603050405020304" pitchFamily="18" charset="0"/>
              </a:rPr>
              <a:t> ICDE 2025, pages 99-113</a:t>
            </a:r>
            <a:r>
              <a:rPr lang="en-HK" altLang="zh-Hans-HK" sz="1200" dirty="0">
                <a:latin typeface="Times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HK" altLang="zh-Hans-HK" sz="1200" dirty="0">
                <a:latin typeface="Times" panose="02020603050405020304" pitchFamily="18" charset="0"/>
                <a:cs typeface="Times New Roman" panose="02020603050405020304" pitchFamily="18" charset="0"/>
              </a:rPr>
              <a:t>[b] Yue Zhong*, Tsz Nam Chan, Leong Hou U, </a:t>
            </a:r>
            <a:r>
              <a:rPr lang="en-HK" altLang="zh-Hans-HK" sz="1200" dirty="0" err="1">
                <a:latin typeface="Times" panose="02020603050405020304" pitchFamily="18" charset="0"/>
                <a:cs typeface="Times New Roman" panose="02020603050405020304" pitchFamily="18" charset="0"/>
              </a:rPr>
              <a:t>Dingming</a:t>
            </a:r>
            <a:r>
              <a:rPr lang="en-HK" altLang="zh-Hans-HK" sz="1200" dirty="0">
                <a:latin typeface="Times" panose="02020603050405020304" pitchFamily="18" charset="0"/>
                <a:cs typeface="Times New Roman" panose="02020603050405020304" pitchFamily="18" charset="0"/>
              </a:rPr>
              <a:t> Wu, Wei Tu, </a:t>
            </a:r>
            <a:r>
              <a:rPr lang="en-HK" altLang="zh-Hans-HK" sz="1200" dirty="0" err="1">
                <a:latin typeface="Times" panose="02020603050405020304" pitchFamily="18" charset="0"/>
                <a:cs typeface="Times New Roman" panose="02020603050405020304" pitchFamily="18" charset="0"/>
              </a:rPr>
              <a:t>Ruisheng</a:t>
            </a:r>
            <a:r>
              <a:rPr lang="en-HK" altLang="zh-Hans-HK" sz="1200" dirty="0">
                <a:latin typeface="Times" panose="02020603050405020304" pitchFamily="18" charset="0"/>
                <a:cs typeface="Times New Roman" panose="02020603050405020304" pitchFamily="18" charset="0"/>
              </a:rPr>
              <a:t> Wang, Joshua </a:t>
            </a:r>
            <a:r>
              <a:rPr lang="en-HK" altLang="zh-Hans-HK" sz="1200" dirty="0" err="1">
                <a:latin typeface="Times" panose="02020603050405020304" pitchFamily="18" charset="0"/>
                <a:cs typeface="Times New Roman" panose="02020603050405020304" pitchFamily="18" charset="0"/>
              </a:rPr>
              <a:t>Zhexue</a:t>
            </a:r>
            <a:r>
              <a:rPr lang="en-HK" altLang="zh-Hans-HK" sz="1200" dirty="0">
                <a:latin typeface="Times" panose="02020603050405020304" pitchFamily="18" charset="0"/>
                <a:cs typeface="Times New Roman" panose="02020603050405020304" pitchFamily="18" charset="0"/>
              </a:rPr>
              <a:t> Huang: “A Fast and Accurate Block Compression Solution for Spatiotemporal Kernel Density Visualization” SIGKDD 2025, pages 4098-4109. (* represents </a:t>
            </a:r>
            <a:r>
              <a:rPr lang="en-HK" altLang="zh-Hans-HK" sz="1200">
                <a:latin typeface="Times" panose="02020603050405020304" pitchFamily="18" charset="0"/>
                <a:cs typeface="Times New Roman" panose="02020603050405020304" pitchFamily="18" charset="0"/>
              </a:rPr>
              <a:t>my student.)</a:t>
            </a:r>
            <a:endParaRPr lang="zh-Hans-HK" altLang="en-US" sz="1200" dirty="0">
              <a:latin typeface="Times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278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16E9-34DD-8E8E-1981-C9AC863A1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04"/>
            <a:ext cx="10454640" cy="1325563"/>
          </a:xfrm>
        </p:spPr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Kernel Density Visualization (STKDV)</a:t>
            </a:r>
            <a:endParaRPr lang="zh-Hans-HK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50B122-4802-D40F-FC1A-D909A8F0A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47" y="1881188"/>
            <a:ext cx="7077226" cy="3847221"/>
          </a:xfrm>
          <a:prstGeom prst="rect">
            <a:avLst/>
          </a:prstGeom>
        </p:spPr>
      </p:pic>
      <p:pic>
        <p:nvPicPr>
          <p:cNvPr id="8" name="图片 75">
            <a:extLst>
              <a:ext uri="{FF2B5EF4-FFF2-40B4-BE49-F238E27FC236}">
                <a16:creationId xmlns:a16="http://schemas.microsoft.com/office/drawing/2014/main" id="{E431A3B9-6698-D42F-7380-D832170CC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4741" y="1087287"/>
            <a:ext cx="3731499" cy="5420956"/>
          </a:xfrm>
          <a:prstGeom prst="rect">
            <a:avLst/>
          </a:prstGeom>
        </p:spPr>
      </p:pic>
      <p:sp>
        <p:nvSpPr>
          <p:cNvPr id="9" name="TextBox 106">
            <a:extLst>
              <a:ext uri="{FF2B5EF4-FFF2-40B4-BE49-F238E27FC236}">
                <a16:creationId xmlns:a16="http://schemas.microsoft.com/office/drawing/2014/main" id="{0F4D40A6-7459-F61B-1547-41AA08890D9F}"/>
              </a:ext>
            </a:extLst>
          </p:cNvPr>
          <p:cNvSpPr txBox="1"/>
          <p:nvPr/>
        </p:nvSpPr>
        <p:spPr>
          <a:xfrm>
            <a:off x="1323434" y="5728409"/>
            <a:ext cx="54464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HK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Analysis with Rapid System (STARS)</a:t>
            </a:r>
          </a:p>
          <a:p>
            <a:pPr algn="ctr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http://47.107.252.103/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TextBox 106">
            <a:extLst>
              <a:ext uri="{FF2B5EF4-FFF2-40B4-BE49-F238E27FC236}">
                <a16:creationId xmlns:a16="http://schemas.microsoft.com/office/drawing/2014/main" id="{1B55B549-B718-D9D1-E112-76904632A1B5}"/>
              </a:ext>
            </a:extLst>
          </p:cNvPr>
          <p:cNvSpPr txBox="1"/>
          <p:nvPr/>
        </p:nvSpPr>
        <p:spPr>
          <a:xfrm>
            <a:off x="8138051" y="6473279"/>
            <a:ext cx="368818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QGIS plugin: Fast Density Analysis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01C5E3-8A47-EB9B-BDDB-3F386359F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17334"/>
            <a:ext cx="2743200" cy="365125"/>
          </a:xfrm>
        </p:spPr>
        <p:txBody>
          <a:bodyPr/>
          <a:lstStyle/>
          <a:p>
            <a:fld id="{6F7DB968-6BF4-4B10-B432-99F132BD1FFD}" type="slidenum">
              <a:rPr lang="zh-Hans-HK" altLang="en-US" smtClean="0"/>
              <a:t>10</a:t>
            </a:fld>
            <a:endParaRPr lang="zh-Hans-HK" altLang="en-US" dirty="0"/>
          </a:p>
        </p:txBody>
      </p:sp>
    </p:spTree>
    <p:extLst>
      <p:ext uri="{BB962C8B-B14F-4D97-AF65-F5344CB8AC3E}">
        <p14:creationId xmlns:p14="http://schemas.microsoft.com/office/powerpoint/2010/main" val="79621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946B8-8267-C9C7-16D9-9DC26F54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5CC07-BD18-BEFC-8071-F724F673D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756" y="0"/>
            <a:ext cx="10515600" cy="1325563"/>
          </a:xfrm>
        </p:spPr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Software Package: Fast Density Analysis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70004F-4F7D-B2F2-7E70-61B904CF7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819" y="1225201"/>
            <a:ext cx="7362055" cy="56327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0839286-DE7C-4AAC-CAE5-EE0E1E3A3403}"/>
              </a:ext>
            </a:extLst>
          </p:cNvPr>
          <p:cNvSpPr/>
          <p:nvPr/>
        </p:nvSpPr>
        <p:spPr>
          <a:xfrm>
            <a:off x="6216650" y="4768850"/>
            <a:ext cx="749300" cy="20447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" name="Star: 7 Points 6">
            <a:extLst>
              <a:ext uri="{FF2B5EF4-FFF2-40B4-BE49-F238E27FC236}">
                <a16:creationId xmlns:a16="http://schemas.microsoft.com/office/drawing/2014/main" id="{61D30FD6-DA6F-9104-3563-D9F5D54BEF9D}"/>
              </a:ext>
            </a:extLst>
          </p:cNvPr>
          <p:cNvSpPr/>
          <p:nvPr/>
        </p:nvSpPr>
        <p:spPr>
          <a:xfrm>
            <a:off x="5784850" y="4041600"/>
            <a:ext cx="1612900" cy="666750"/>
          </a:xfrm>
          <a:prstGeom prst="star7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8E31F7-C44A-6174-8979-1F6E889776DD}"/>
              </a:ext>
            </a:extLst>
          </p:cNvPr>
          <p:cNvSpPr txBox="1"/>
          <p:nvPr/>
        </p:nvSpPr>
        <p:spPr>
          <a:xfrm>
            <a:off x="6005242" y="4113365"/>
            <a:ext cx="11721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ans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22,354</a:t>
            </a:r>
            <a:endParaRPr lang="zh-Hans-HK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260FBE-86A7-CC74-4C6D-E29A8D5DE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B968-6BF4-4B10-B432-99F132BD1FFD}" type="slidenum">
              <a:rPr lang="zh-Hans-HK" altLang="en-US" smtClean="0"/>
              <a:t>11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814120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87CC3-452D-C81B-9C52-AB1B10CFE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6D947-5395-11E9-DB99-ECAE6EEAC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9384"/>
            <a:ext cx="12192000" cy="1325563"/>
          </a:xfrm>
        </p:spPr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Software Package: Fast Line Density Analysis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49FED2-757B-CB75-D1AD-A4072F6F6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131" y="1394148"/>
            <a:ext cx="7852410" cy="53417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3B0E124-CC53-51CA-B4B0-DC0C1E3F80D3}"/>
              </a:ext>
            </a:extLst>
          </p:cNvPr>
          <p:cNvSpPr/>
          <p:nvPr/>
        </p:nvSpPr>
        <p:spPr>
          <a:xfrm>
            <a:off x="6216650" y="5137150"/>
            <a:ext cx="749300" cy="159146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6" name="Star: 7 Points 5">
            <a:extLst>
              <a:ext uri="{FF2B5EF4-FFF2-40B4-BE49-F238E27FC236}">
                <a16:creationId xmlns:a16="http://schemas.microsoft.com/office/drawing/2014/main" id="{82F8EBEF-3F53-2130-9FBC-6C8D668BC15F}"/>
              </a:ext>
            </a:extLst>
          </p:cNvPr>
          <p:cNvSpPr/>
          <p:nvPr/>
        </p:nvSpPr>
        <p:spPr>
          <a:xfrm>
            <a:off x="5829300" y="4359100"/>
            <a:ext cx="1612900" cy="666750"/>
          </a:xfrm>
          <a:prstGeom prst="star7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CED28C-67BC-7234-4B24-B16A6F83DCEF}"/>
              </a:ext>
            </a:extLst>
          </p:cNvPr>
          <p:cNvSpPr txBox="1"/>
          <p:nvPr/>
        </p:nvSpPr>
        <p:spPr>
          <a:xfrm>
            <a:off x="6139460" y="4430865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ans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4,955</a:t>
            </a:r>
            <a:endParaRPr lang="zh-Hans-HK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87885C7-F828-8B4E-2331-B73F95BED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B968-6BF4-4B10-B432-99F132BD1FFD}" type="slidenum">
              <a:rPr lang="zh-Hans-HK" altLang="en-US" smtClean="0"/>
              <a:t>12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689483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DD6BA-D9EC-BCE9-9A74-26A7F8700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700" y="60325"/>
            <a:ext cx="10515600" cy="1325563"/>
          </a:xfrm>
        </p:spPr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91C2A-CE12-245D-8A16-36DA2033F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700" y="1282700"/>
            <a:ext cx="10515600" cy="5638800"/>
          </a:xfrm>
        </p:spPr>
        <p:txBody>
          <a:bodyPr>
            <a:normAutofit/>
          </a:bodyPr>
          <a:lstStyle/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complexity-reduced algorithms for other spatiotemporal analysis tools.</a:t>
            </a:r>
          </a:p>
          <a:p>
            <a:pPr lvl="1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Inverse distance weighting (IDW)</a:t>
            </a:r>
          </a:p>
          <a:p>
            <a:pPr lvl="1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Kriging</a:t>
            </a:r>
          </a:p>
          <a:p>
            <a:pPr lvl="1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DBSCAN clustering</a:t>
            </a: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all these algorithms into a unified QGIS/ArcGIS plugin and the web-based system STARS.</a:t>
            </a: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Advertise this plugin and STARS.</a:t>
            </a: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book (in Springer Nature) about this topic.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4FC52-A861-5F1E-776B-424CC269C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B968-6BF4-4B10-B432-99F132BD1FFD}" type="slidenum">
              <a:rPr lang="zh-Hans-HK" altLang="en-US" smtClean="0"/>
              <a:t>13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058446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EA333-C584-9BC1-3A75-3E12A565F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990"/>
            <a:ext cx="10515600" cy="1325563"/>
          </a:xfrm>
        </p:spPr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New Book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98709-33A9-3C0E-7FA3-496010ED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884E4B5-CAA5-1482-38A7-7ADD0B66F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514" y="1360735"/>
            <a:ext cx="7121662" cy="47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733C19-1368-C8B4-2313-190F40368CC2}"/>
              </a:ext>
            </a:extLst>
          </p:cNvPr>
          <p:cNvSpPr txBox="1"/>
          <p:nvPr/>
        </p:nvSpPr>
        <p:spPr>
          <a:xfrm>
            <a:off x="2265931" y="6108509"/>
            <a:ext cx="7547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https://link.springer.com/book/10.1007/978-981-95-4850-7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184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614</Words>
  <Application>Microsoft Office PowerPoint</Application>
  <PresentationFormat>Widescreen</PresentationFormat>
  <Paragraphs>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Times</vt:lpstr>
      <vt:lpstr>Times New Roman</vt:lpstr>
      <vt:lpstr>Office Theme</vt:lpstr>
      <vt:lpstr> Complexity-Reduced Algorithms and Software Packages for Spatiotemporal Analysis</vt:lpstr>
      <vt:lpstr>What is Spatiotemporal Analysis?</vt:lpstr>
      <vt:lpstr>Why Spatiotemporal Analysis?</vt:lpstr>
      <vt:lpstr>Spatiotemporal Analysis is Slow!</vt:lpstr>
      <vt:lpstr>Spatiotemporal Analysis is Slow!</vt:lpstr>
      <vt:lpstr>How to Improve the Efficiency of Spatiotemporal Analysis Tools?</vt:lpstr>
      <vt:lpstr>Spatiotemporal Kernel Density Visualization (STKDV)</vt:lpstr>
      <vt:lpstr>Spatiotemporal Kernel Density Visualization (STKDV)</vt:lpstr>
      <vt:lpstr>Spatiotemporal Kernel Density Visualization (STKDV)</vt:lpstr>
      <vt:lpstr>Spatiotemporal Kernel Density Visualization (STKDV)</vt:lpstr>
      <vt:lpstr>Our Software Package: Fast Density Analysis</vt:lpstr>
      <vt:lpstr>Our Software Package: Fast Line Density Analysis</vt:lpstr>
      <vt:lpstr>Future Work</vt:lpstr>
      <vt:lpstr>Our New Book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Tsz Nam Chan</dc:creator>
  <cp:lastModifiedBy>Tsz Nam Chan</cp:lastModifiedBy>
  <cp:revision>1</cp:revision>
  <dcterms:created xsi:type="dcterms:W3CDTF">2026-06-06T08:13:27Z</dcterms:created>
  <dcterms:modified xsi:type="dcterms:W3CDTF">2026-06-08T15:01:43Z</dcterms:modified>
</cp:coreProperties>
</file>